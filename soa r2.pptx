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h328143a71a164d79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h328143a71a164d79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h328143a71a164d7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h328143a71a164d7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h328143a71a164d7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h328143a71a164d7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h328143a71a164d7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h328143a71a164d7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h328143a71a164d7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h328143a71a164d7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h328143a71a164d7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h328143a71a164d7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40a268fe385_1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40a268fe385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h328143a71a164d79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h328143a71a164d7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40a268fe385_1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40a268fe385_1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h328143a71a164d79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h328143a71a164d79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h328143a71a164d79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h328143a71a164d79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221401" y="862300"/>
            <a:ext cx="7192800" cy="1004100"/>
          </a:xfrm>
          <a:prstGeom prst="rect">
            <a:avLst/>
          </a:prstGeom>
          <a:solidFill>
            <a:schemeClr val="accent1"/>
          </a:solidFill>
        </p:spPr>
        <p:txBody>
          <a:bodyPr anchorCtr="0" anchor="b" bIns="91425" lIns="91425" spcFirstLastPara="1" rIns="91425" wrap="square" tIns="91425">
            <a:normAutofit fontScale="90000"/>
          </a:bodyPr>
          <a:lstStyle/>
          <a:p>
            <a:pPr indent="0" lvl="0" marL="0" rtl="0" algn="l">
              <a:spcBef>
                <a:spcPts val="0"/>
              </a:spcBef>
              <a:spcAft>
                <a:spcPts val="0"/>
              </a:spcAft>
              <a:buClr>
                <a:schemeClr val="dk1"/>
              </a:buClr>
              <a:buSzPct val="100000"/>
              <a:buFont typeface="Arial"/>
              <a:buNone/>
            </a:pPr>
            <a:r>
              <a:t/>
            </a:r>
            <a:endParaRPr sz="1100">
              <a:solidFill>
                <a:schemeClr val="lt1"/>
              </a:solidFill>
            </a:endParaRPr>
          </a:p>
          <a:p>
            <a:pPr indent="0" lvl="0" marL="0" rtl="0" algn="ctr">
              <a:spcBef>
                <a:spcPts val="0"/>
              </a:spcBef>
              <a:spcAft>
                <a:spcPts val="0"/>
              </a:spcAft>
              <a:buClr>
                <a:schemeClr val="dk1"/>
              </a:buClr>
              <a:buSzPct val="39130"/>
              <a:buFont typeface="Arial"/>
              <a:buNone/>
            </a:pPr>
            <a:r>
              <a:rPr b="1" lang="en" sz="2811">
                <a:solidFill>
                  <a:schemeClr val="lt1"/>
                </a:solidFill>
                <a:latin typeface="Calibri"/>
                <a:ea typeface="Calibri"/>
                <a:cs typeface="Calibri"/>
                <a:sym typeface="Calibri"/>
              </a:rPr>
              <a:t>PharmaVerse AI: An Agentic Pharmaceutical Supply Chain Monitoring and Drug Traceability Ecosystem</a:t>
            </a:r>
            <a:endParaRPr/>
          </a:p>
        </p:txBody>
      </p:sp>
      <p:sp>
        <p:nvSpPr>
          <p:cNvPr id="55" name="Google Shape;55;p13"/>
          <p:cNvSpPr txBox="1"/>
          <p:nvPr>
            <p:ph idx="1" type="subTitle"/>
          </p:nvPr>
        </p:nvSpPr>
        <p:spPr>
          <a:xfrm>
            <a:off x="557500" y="1999350"/>
            <a:ext cx="8520600" cy="7926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Clr>
                <a:schemeClr val="dk1"/>
              </a:buClr>
              <a:buSzPts val="1100"/>
              <a:buFont typeface="Arial"/>
              <a:buNone/>
            </a:pPr>
            <a:r>
              <a:rPr b="1" lang="en" sz="1600">
                <a:solidFill>
                  <a:schemeClr val="dk1"/>
                </a:solidFill>
                <a:latin typeface="Times New Roman"/>
                <a:ea typeface="Times New Roman"/>
                <a:cs typeface="Times New Roman"/>
                <a:sym typeface="Times New Roman"/>
              </a:rPr>
              <a:t>SOA and Microservices Project Review-3</a:t>
            </a:r>
            <a:endParaRPr b="1" sz="1600">
              <a:solidFill>
                <a:schemeClr val="dk1"/>
              </a:solidFill>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b="1" lang="en" sz="1600">
                <a:solidFill>
                  <a:srgbClr val="FF0000"/>
                </a:solidFill>
                <a:latin typeface="Times New Roman"/>
                <a:ea typeface="Times New Roman"/>
                <a:cs typeface="Times New Roman"/>
                <a:sym typeface="Times New Roman"/>
              </a:rPr>
              <a:t>Thursday, September 24</a:t>
            </a:r>
            <a:r>
              <a:rPr b="1" baseline="30000" lang="en" sz="1600">
                <a:solidFill>
                  <a:srgbClr val="FF0000"/>
                </a:solidFill>
                <a:latin typeface="Times New Roman"/>
                <a:ea typeface="Times New Roman"/>
                <a:cs typeface="Times New Roman"/>
                <a:sym typeface="Times New Roman"/>
              </a:rPr>
              <a:t>th</a:t>
            </a:r>
            <a:r>
              <a:rPr b="1" lang="en" sz="1600">
                <a:solidFill>
                  <a:srgbClr val="FF0000"/>
                </a:solidFill>
                <a:latin typeface="Times New Roman"/>
                <a:ea typeface="Times New Roman"/>
                <a:cs typeface="Times New Roman"/>
                <a:sym typeface="Times New Roman"/>
              </a:rPr>
              <a:t>, 2026</a:t>
            </a:r>
            <a:endParaRPr/>
          </a:p>
        </p:txBody>
      </p:sp>
      <p:pic>
        <p:nvPicPr>
          <p:cNvPr id="56" name="Google Shape;56;p13"/>
          <p:cNvPicPr preferRelativeResize="0"/>
          <p:nvPr/>
        </p:nvPicPr>
        <p:blipFill>
          <a:blip r:embed="rId3">
            <a:alphaModFix/>
          </a:blip>
          <a:stretch>
            <a:fillRect/>
          </a:stretch>
        </p:blipFill>
        <p:spPr>
          <a:xfrm>
            <a:off x="7192725" y="0"/>
            <a:ext cx="1951275" cy="637925"/>
          </a:xfrm>
          <a:prstGeom prst="rect">
            <a:avLst/>
          </a:prstGeom>
          <a:noFill/>
          <a:ln>
            <a:noFill/>
          </a:ln>
        </p:spPr>
      </p:pic>
      <p:pic>
        <p:nvPicPr>
          <p:cNvPr id="57" name="Google Shape;57;p13"/>
          <p:cNvPicPr preferRelativeResize="0"/>
          <p:nvPr/>
        </p:nvPicPr>
        <p:blipFill rotWithShape="1">
          <a:blip r:embed="rId4">
            <a:alphaModFix/>
          </a:blip>
          <a:srcRect b="0" l="24384" r="-3629" t="0"/>
          <a:stretch/>
        </p:blipFill>
        <p:spPr>
          <a:xfrm>
            <a:off x="81050" y="3121875"/>
            <a:ext cx="5346126" cy="1788000"/>
          </a:xfrm>
          <a:prstGeom prst="rect">
            <a:avLst/>
          </a:prstGeom>
          <a:noFill/>
          <a:ln>
            <a:noFill/>
          </a:ln>
        </p:spPr>
      </p:pic>
      <p:sp>
        <p:nvSpPr>
          <p:cNvPr id="58" name="Google Shape;58;p13"/>
          <p:cNvSpPr txBox="1"/>
          <p:nvPr/>
        </p:nvSpPr>
        <p:spPr>
          <a:xfrm>
            <a:off x="5610550" y="3192375"/>
            <a:ext cx="30000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CC0000"/>
                </a:solidFill>
                <a:latin typeface="Times New Roman"/>
                <a:ea typeface="Times New Roman"/>
                <a:cs typeface="Times New Roman"/>
                <a:sym typeface="Times New Roman"/>
              </a:rPr>
              <a:t>Team-23: </a:t>
            </a:r>
            <a:endParaRPr b="1" sz="1900">
              <a:solidFill>
                <a:srgbClr val="CC0000"/>
              </a:solidFill>
              <a:latin typeface="Times New Roman"/>
              <a:ea typeface="Times New Roman"/>
              <a:cs typeface="Times New Roman"/>
              <a:sym typeface="Times New Roman"/>
            </a:endParaRPr>
          </a:p>
          <a:p>
            <a:pPr indent="0" lvl="0" marL="0" rtl="0" algn="l">
              <a:spcBef>
                <a:spcPts val="0"/>
              </a:spcBef>
              <a:spcAft>
                <a:spcPts val="0"/>
              </a:spcAft>
              <a:buNone/>
            </a:pPr>
            <a:r>
              <a:rPr lang="en" sz="1900">
                <a:solidFill>
                  <a:schemeClr val="dk1"/>
                </a:solidFill>
                <a:latin typeface="Times New Roman"/>
                <a:ea typeface="Times New Roman"/>
                <a:cs typeface="Times New Roman"/>
                <a:sym typeface="Times New Roman"/>
              </a:rPr>
              <a:t>Y. Nihitha  - 2420090099</a:t>
            </a:r>
            <a:endParaRPr sz="1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900">
                <a:solidFill>
                  <a:schemeClr val="dk1"/>
                </a:solidFill>
                <a:latin typeface="Times New Roman"/>
                <a:ea typeface="Times New Roman"/>
                <a:cs typeface="Times New Roman"/>
                <a:sym typeface="Times New Roman"/>
              </a:rPr>
              <a:t>A.Sri Anitha -  2420090117</a:t>
            </a:r>
            <a:endParaRPr sz="1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900">
                <a:solidFill>
                  <a:schemeClr val="dk1"/>
                </a:solidFill>
                <a:latin typeface="Times New Roman"/>
                <a:ea typeface="Times New Roman"/>
                <a:cs typeface="Times New Roman"/>
                <a:sym typeface="Times New Roman"/>
              </a:rPr>
              <a:t>T. K. Amulya - 2420030434</a:t>
            </a:r>
            <a:endParaRPr sz="1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900">
                <a:solidFill>
                  <a:schemeClr val="dk1"/>
                </a:solidFill>
                <a:latin typeface="Times New Roman"/>
                <a:ea typeface="Times New Roman"/>
                <a:cs typeface="Times New Roman"/>
                <a:sym typeface="Times New Roman"/>
              </a:rPr>
              <a:t>S. Harini - 2420030523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p14"/>
          <p:cNvPicPr preferRelativeResize="0"/>
          <p:nvPr/>
        </p:nvPicPr>
        <p:blipFill>
          <a:blip r:embed="rId3">
            <a:alphaModFix/>
          </a:blip>
          <a:stretch>
            <a:fillRect/>
          </a:stretch>
        </p:blipFill>
        <p:spPr>
          <a:xfrm>
            <a:off x="1577925" y="129075"/>
            <a:ext cx="5734699" cy="4789926"/>
          </a:xfrm>
          <a:prstGeom prst="rect">
            <a:avLst/>
          </a:prstGeom>
          <a:noFill/>
          <a:ln>
            <a:noFill/>
          </a:ln>
        </p:spPr>
      </p:pic>
      <p:pic>
        <p:nvPicPr>
          <p:cNvPr id="64" name="Google Shape;64;p14"/>
          <p:cNvPicPr preferRelativeResize="0"/>
          <p:nvPr/>
        </p:nvPicPr>
        <p:blipFill>
          <a:blip r:embed="rId4">
            <a:alphaModFix/>
          </a:blip>
          <a:stretch>
            <a:fillRect/>
          </a:stretch>
        </p:blipFill>
        <p:spPr>
          <a:xfrm>
            <a:off x="7192725" y="0"/>
            <a:ext cx="1951275" cy="637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None/>
            </a:pPr>
            <a:r>
              <a:rPr b="1" lang="en" sz="3600">
                <a:solidFill>
                  <a:srgbClr val="000000"/>
                </a:solidFill>
                <a:latin typeface="Times New Roman"/>
                <a:ea typeface="Times New Roman"/>
                <a:cs typeface="Times New Roman"/>
                <a:sym typeface="Times New Roman"/>
              </a:rPr>
              <a:t>Problem Statement</a:t>
            </a:r>
            <a:endParaRPr b="1" sz="36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70" name="Google Shape;70;p15"/>
          <p:cNvSpPr txBox="1"/>
          <p:nvPr/>
        </p:nvSpPr>
        <p:spPr>
          <a:xfrm>
            <a:off x="311700" y="1282975"/>
            <a:ext cx="8740200" cy="359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600">
                <a:solidFill>
                  <a:schemeClr val="dk1"/>
                </a:solidFill>
                <a:latin typeface="Times New Roman"/>
                <a:ea typeface="Times New Roman"/>
                <a:cs typeface="Times New Roman"/>
                <a:sym typeface="Times New Roman"/>
              </a:rPr>
              <a:t>Traditional pharmaceutical supply chains rely on fragmented and centralized systems, making drug tracking, verification, and monitoring inefficient.</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1600">
                <a:solidFill>
                  <a:schemeClr val="dk1"/>
                </a:solidFill>
                <a:latin typeface="Times New Roman"/>
                <a:ea typeface="Times New Roman"/>
                <a:cs typeface="Times New Roman"/>
                <a:sym typeface="Times New Roman"/>
              </a:rPr>
              <a:t>Counterfeit drugs, poor visibility, and supply chain disruptions can compromise medicine safety and availability.</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1600">
                <a:solidFill>
                  <a:schemeClr val="dk1"/>
                </a:solidFill>
                <a:latin typeface="Times New Roman"/>
                <a:ea typeface="Times New Roman"/>
                <a:cs typeface="Times New Roman"/>
                <a:sym typeface="Times New Roman"/>
              </a:rPr>
              <a:t>Existing solutions often lack real-time tracking, secure data sharing, and end-to-end drug traceability.</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1600">
                <a:solidFill>
                  <a:schemeClr val="dk1"/>
                </a:solidFill>
                <a:latin typeface="Times New Roman"/>
                <a:ea typeface="Times New Roman"/>
                <a:cs typeface="Times New Roman"/>
                <a:sym typeface="Times New Roman"/>
              </a:rPr>
              <a:t>There is a need for a secure, transparent, and real-time system that can authenticate medicines, monitor their movement, and detect supply chain anomalies.</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 sz="1600">
                <a:solidFill>
                  <a:schemeClr val="dk1"/>
                </a:solidFill>
                <a:latin typeface="Times New Roman"/>
                <a:ea typeface="Times New Roman"/>
                <a:cs typeface="Times New Roman"/>
                <a:sym typeface="Times New Roman"/>
              </a:rPr>
              <a:t>The proposed PharmaVerse AI integrates Hyperledger Fabric, RFID, IoT, FastAPI, Docker, PostgreSQL, and QR-based traceability to enable secure drug tracking, anti-counterfeiting, and intelligent pharmaceutical supply chain monitoring.</a:t>
            </a:r>
            <a:endParaRPr sz="1500"/>
          </a:p>
        </p:txBody>
      </p:sp>
      <p:pic>
        <p:nvPicPr>
          <p:cNvPr id="71" name="Google Shape;71;p15"/>
          <p:cNvPicPr preferRelativeResize="0"/>
          <p:nvPr/>
        </p:nvPicPr>
        <p:blipFill>
          <a:blip r:embed="rId3">
            <a:alphaModFix/>
          </a:blip>
          <a:stretch>
            <a:fillRect/>
          </a:stretch>
        </p:blipFill>
        <p:spPr>
          <a:xfrm>
            <a:off x="7782677" y="0"/>
            <a:ext cx="1361325" cy="445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idx="1" type="body"/>
          </p:nvPr>
        </p:nvSpPr>
        <p:spPr>
          <a:xfrm>
            <a:off x="311700" y="1043375"/>
            <a:ext cx="8520600" cy="4003800"/>
          </a:xfrm>
          <a:prstGeom prst="rect">
            <a:avLst/>
          </a:prstGeom>
        </p:spPr>
        <p:txBody>
          <a:bodyPr anchorCtr="0" anchor="t" bIns="91425" lIns="91425" spcFirstLastPara="1" rIns="91425" wrap="square" tIns="91425">
            <a:noAutofit/>
          </a:bodyPr>
          <a:lstStyle/>
          <a:p>
            <a:pPr indent="-323850" lvl="0" marL="457200" rtl="0" algn="l">
              <a:lnSpc>
                <a:spcPct val="95000"/>
              </a:lnSpc>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Blockchain-Enabled Trust: Hyperledger Fabric provides a permissioned, tamper-resistant ledger for secure and accountable sharing of pharmaceutical transaction records among authorized stakeholders.</a:t>
            </a:r>
            <a:endParaRPr sz="1500">
              <a:solidFill>
                <a:schemeClr val="dk1"/>
              </a:solidFill>
              <a:latin typeface="Times New Roman"/>
              <a:ea typeface="Times New Roman"/>
              <a:cs typeface="Times New Roman"/>
              <a:sym typeface="Times New Roman"/>
            </a:endParaRPr>
          </a:p>
          <a:p>
            <a:pPr indent="-323850" lvl="0" marL="457200" rtl="0" algn="l">
              <a:lnSpc>
                <a:spcPct val="95000"/>
              </a:lnSpc>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Physical–Digital Drug Linking: RFID + QR traceability creates a digital identity for medicines and links their physical movement with verifiable supply-chain records.</a:t>
            </a:r>
            <a:endParaRPr sz="1500">
              <a:solidFill>
                <a:schemeClr val="dk1"/>
              </a:solidFill>
              <a:latin typeface="Times New Roman"/>
              <a:ea typeface="Times New Roman"/>
              <a:cs typeface="Times New Roman"/>
              <a:sym typeface="Times New Roman"/>
            </a:endParaRPr>
          </a:p>
          <a:p>
            <a:pPr indent="-323850" lvl="0" marL="457200" rtl="0" algn="l">
              <a:lnSpc>
                <a:spcPct val="95000"/>
              </a:lnSpc>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Real-Time IoT Monitoring: IoT devices continuously capture relevant movement and environmental data, improving visibility beyond conventional static tracking.</a:t>
            </a:r>
            <a:endParaRPr sz="1500">
              <a:solidFill>
                <a:schemeClr val="dk1"/>
              </a:solidFill>
              <a:latin typeface="Times New Roman"/>
              <a:ea typeface="Times New Roman"/>
              <a:cs typeface="Times New Roman"/>
              <a:sym typeface="Times New Roman"/>
            </a:endParaRPr>
          </a:p>
          <a:p>
            <a:pPr indent="-323850" lvl="0" marL="457200" rtl="0" algn="l">
              <a:lnSpc>
                <a:spcPct val="95000"/>
              </a:lnSpc>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Agentic AI-Based Intelligence: AI agents can analyze supply-chain events, identify abnormal patterns, detect potential disruptions, and support intelligent monitoring rather than merely storing transaction data.</a:t>
            </a:r>
            <a:endParaRPr sz="1500">
              <a:solidFill>
                <a:schemeClr val="dk1"/>
              </a:solidFill>
              <a:latin typeface="Times New Roman"/>
              <a:ea typeface="Times New Roman"/>
              <a:cs typeface="Times New Roman"/>
              <a:sym typeface="Times New Roman"/>
            </a:endParaRPr>
          </a:p>
          <a:p>
            <a:pPr indent="-323850" lvl="0" marL="457200" rtl="0" algn="l">
              <a:lnSpc>
                <a:spcPct val="95000"/>
              </a:lnSpc>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End-to-End Traceability: The proposed architecture connects manufacturing → distribution → transportation → pharmacy → verification, enabling complete medicine provenance.</a:t>
            </a:r>
            <a:endParaRPr sz="1500">
              <a:solidFill>
                <a:schemeClr val="dk1"/>
              </a:solidFill>
              <a:latin typeface="Times New Roman"/>
              <a:ea typeface="Times New Roman"/>
              <a:cs typeface="Times New Roman"/>
              <a:sym typeface="Times New Roman"/>
            </a:endParaRPr>
          </a:p>
          <a:p>
            <a:pPr indent="-323850" lvl="0" marL="457200" rtl="0" algn="l">
              <a:lnSpc>
                <a:spcPct val="95000"/>
              </a:lnSpc>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Integrated Anti-Counterfeiting: Combining blockchain records with QR/RFID verification enables stakeholders to validate medicine identity and detect inconsistencies between physical products and digital records.</a:t>
            </a:r>
            <a:endParaRPr sz="15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Clr>
                <a:schemeClr val="dk1"/>
              </a:buClr>
              <a:buSzPts val="1100"/>
              <a:buFont typeface="Arial"/>
              <a:buNone/>
            </a:pPr>
            <a:r>
              <a:rPr lang="en" sz="1500">
                <a:solidFill>
                  <a:schemeClr val="dk1"/>
                </a:solidFill>
                <a:latin typeface="Times New Roman"/>
                <a:ea typeface="Times New Roman"/>
                <a:cs typeface="Times New Roman"/>
                <a:sym typeface="Times New Roman"/>
              </a:rPr>
              <a:t>Novelty: PharmaVerse AI unifies blockchain, IoT/RFID, QR traceability, and agentic intelligence into a single pharmaceutical supply-chain ecosystem, moving beyond conventional tracking systems toward secure, real-time, intelligent, and anomaly-aware drug traceability. </a:t>
            </a:r>
            <a:endParaRPr sz="2000"/>
          </a:p>
        </p:txBody>
      </p:sp>
      <p:sp>
        <p:nvSpPr>
          <p:cNvPr id="77" name="Google Shape;77;p16"/>
          <p:cNvSpPr txBox="1"/>
          <p:nvPr/>
        </p:nvSpPr>
        <p:spPr>
          <a:xfrm>
            <a:off x="311700" y="381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SzPts val="440"/>
              <a:buNone/>
            </a:pPr>
            <a:r>
              <a:rPr b="1" lang="en" sz="3240">
                <a:solidFill>
                  <a:srgbClr val="000000"/>
                </a:solidFill>
                <a:latin typeface="Times New Roman"/>
                <a:ea typeface="Times New Roman"/>
                <a:cs typeface="Times New Roman"/>
                <a:sym typeface="Times New Roman"/>
              </a:rPr>
              <a:t>Innovation, Creativity, and Novelty</a:t>
            </a:r>
            <a:endParaRPr b="1" sz="3240">
              <a:solidFill>
                <a:srgbClr val="000000"/>
              </a:solidFill>
              <a:latin typeface="Times New Roman"/>
              <a:ea typeface="Times New Roman"/>
              <a:cs typeface="Times New Roman"/>
              <a:sym typeface="Times New Roman"/>
            </a:endParaRPr>
          </a:p>
          <a:p>
            <a:pPr indent="0" lvl="0" marL="0" rtl="0" algn="l">
              <a:lnSpc>
                <a:spcPct val="90000"/>
              </a:lnSpc>
              <a:spcBef>
                <a:spcPts val="0"/>
              </a:spcBef>
              <a:spcAft>
                <a:spcPts val="0"/>
              </a:spcAft>
              <a:buSzPts val="440"/>
              <a:buNone/>
            </a:pPr>
            <a:r>
              <a:t/>
            </a:r>
            <a:endParaRPr sz="1120">
              <a:solidFill>
                <a:srgbClr val="000000"/>
              </a:solidFill>
              <a:latin typeface="Times New Roman"/>
              <a:ea typeface="Times New Roman"/>
              <a:cs typeface="Times New Roman"/>
              <a:sym typeface="Times New Roman"/>
            </a:endParaRPr>
          </a:p>
        </p:txBody>
      </p:sp>
      <p:pic>
        <p:nvPicPr>
          <p:cNvPr id="78" name="Google Shape;78;p16"/>
          <p:cNvPicPr preferRelativeResize="0"/>
          <p:nvPr/>
        </p:nvPicPr>
        <p:blipFill>
          <a:blip r:embed="rId3">
            <a:alphaModFix/>
          </a:blip>
          <a:stretch>
            <a:fillRect/>
          </a:stretch>
        </p:blipFill>
        <p:spPr>
          <a:xfrm>
            <a:off x="7782677" y="0"/>
            <a:ext cx="1361325" cy="4450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850" y="450700"/>
            <a:ext cx="8520600" cy="56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220">
                <a:latin typeface="Times New Roman"/>
                <a:ea typeface="Times New Roman"/>
                <a:cs typeface="Times New Roman"/>
                <a:sym typeface="Times New Roman"/>
              </a:rPr>
              <a:t>Project Design </a:t>
            </a:r>
            <a:endParaRPr b="1" sz="3220">
              <a:latin typeface="Times New Roman"/>
              <a:ea typeface="Times New Roman"/>
              <a:cs typeface="Times New Roman"/>
              <a:sym typeface="Times New Roman"/>
            </a:endParaRPr>
          </a:p>
        </p:txBody>
      </p:sp>
      <p:sp>
        <p:nvSpPr>
          <p:cNvPr id="84" name="Google Shape;84;p17"/>
          <p:cNvSpPr txBox="1"/>
          <p:nvPr>
            <p:ph idx="1" type="body"/>
          </p:nvPr>
        </p:nvSpPr>
        <p:spPr>
          <a:xfrm>
            <a:off x="253500" y="1023350"/>
            <a:ext cx="8637300" cy="3990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853"/>
              <a:buFont typeface="Arial"/>
              <a:buNone/>
            </a:pPr>
            <a:r>
              <a:rPr b="1" lang="en" sz="1537">
                <a:solidFill>
                  <a:schemeClr val="dk1"/>
                </a:solidFill>
                <a:latin typeface="Times New Roman"/>
                <a:ea typeface="Times New Roman"/>
                <a:cs typeface="Times New Roman"/>
                <a:sym typeface="Times New Roman"/>
              </a:rPr>
              <a:t>Objective:</a:t>
            </a:r>
            <a:endParaRPr b="1" sz="1537">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853"/>
              <a:buNone/>
            </a:pPr>
            <a:r>
              <a:rPr lang="en" sz="1537">
                <a:solidFill>
                  <a:schemeClr val="dk1"/>
                </a:solidFill>
                <a:latin typeface="Times New Roman"/>
                <a:ea typeface="Times New Roman"/>
                <a:cs typeface="Times New Roman"/>
                <a:sym typeface="Times New Roman"/>
              </a:rPr>
              <a:t>Develop a secure and traceable pharmaceutical supply-chain system using </a:t>
            </a:r>
            <a:r>
              <a:rPr b="1" lang="en" sz="1537">
                <a:solidFill>
                  <a:schemeClr val="dk1"/>
                </a:solidFill>
                <a:latin typeface="Times New Roman"/>
                <a:ea typeface="Times New Roman"/>
                <a:cs typeface="Times New Roman"/>
                <a:sym typeface="Times New Roman"/>
              </a:rPr>
              <a:t>AI + Blockchain</a:t>
            </a:r>
            <a:r>
              <a:rPr lang="en" sz="1537">
                <a:solidFill>
                  <a:schemeClr val="dk1"/>
                </a:solidFill>
                <a:latin typeface="Times New Roman"/>
                <a:ea typeface="Times New Roman"/>
                <a:cs typeface="Times New Roman"/>
                <a:sym typeface="Times New Roman"/>
              </a:rPr>
              <a:t>. </a:t>
            </a:r>
            <a:endParaRPr sz="1537">
              <a:solidFill>
                <a:schemeClr val="dk1"/>
              </a:solidFill>
              <a:latin typeface="Times New Roman"/>
              <a:ea typeface="Times New Roman"/>
              <a:cs typeface="Times New Roman"/>
              <a:sym typeface="Times New Roman"/>
            </a:endParaRPr>
          </a:p>
          <a:p>
            <a:pPr indent="0" lvl="0" marL="0" rtl="0" algn="l">
              <a:lnSpc>
                <a:spcPct val="95000"/>
              </a:lnSpc>
              <a:spcBef>
                <a:spcPts val="1400"/>
              </a:spcBef>
              <a:spcAft>
                <a:spcPts val="0"/>
              </a:spcAft>
              <a:buClr>
                <a:schemeClr val="dk1"/>
              </a:buClr>
              <a:buSzPts val="853"/>
              <a:buFont typeface="Arial"/>
              <a:buNone/>
            </a:pPr>
            <a:r>
              <a:rPr b="1" lang="en" sz="1537">
                <a:solidFill>
                  <a:schemeClr val="dk1"/>
                </a:solidFill>
                <a:latin typeface="Times New Roman"/>
                <a:ea typeface="Times New Roman"/>
                <a:cs typeface="Times New Roman"/>
                <a:sym typeface="Times New Roman"/>
              </a:rPr>
              <a:t>Core Design Components : </a:t>
            </a:r>
            <a:endParaRPr b="1" sz="1537">
              <a:solidFill>
                <a:schemeClr val="dk1"/>
              </a:solidFill>
              <a:latin typeface="Times New Roman"/>
              <a:ea typeface="Times New Roman"/>
              <a:cs typeface="Times New Roman"/>
              <a:sym typeface="Times New Roman"/>
            </a:endParaRPr>
          </a:p>
          <a:p>
            <a:pPr indent="-326229" lvl="0" marL="457200" rtl="0" algn="l">
              <a:lnSpc>
                <a:spcPct val="95000"/>
              </a:lnSpc>
              <a:spcBef>
                <a:spcPts val="1200"/>
              </a:spcBef>
              <a:spcAft>
                <a:spcPts val="0"/>
              </a:spcAft>
              <a:buClr>
                <a:schemeClr val="dk1"/>
              </a:buClr>
              <a:buSzPts val="1537"/>
              <a:buChar char="●"/>
            </a:pPr>
            <a:r>
              <a:rPr b="1" lang="en" sz="1537">
                <a:solidFill>
                  <a:schemeClr val="dk1"/>
                </a:solidFill>
                <a:latin typeface="Times New Roman"/>
                <a:ea typeface="Times New Roman"/>
                <a:cs typeface="Times New Roman"/>
                <a:sym typeface="Times New Roman"/>
              </a:rPr>
              <a:t>Drug &amp; Batch Management</a:t>
            </a:r>
            <a:r>
              <a:rPr lang="en" sz="1537">
                <a:solidFill>
                  <a:schemeClr val="dk1"/>
                </a:solidFill>
                <a:latin typeface="Times New Roman"/>
                <a:ea typeface="Times New Roman"/>
                <a:cs typeface="Times New Roman"/>
                <a:sym typeface="Times New Roman"/>
              </a:rPr>
              <a:t> – registration and batch creation</a:t>
            </a:r>
            <a:endParaRPr sz="1537">
              <a:solidFill>
                <a:schemeClr val="dk1"/>
              </a:solidFill>
              <a:latin typeface="Times New Roman"/>
              <a:ea typeface="Times New Roman"/>
              <a:cs typeface="Times New Roman"/>
              <a:sym typeface="Times New Roman"/>
            </a:endParaRPr>
          </a:p>
          <a:p>
            <a:pPr indent="-326229" lvl="0" marL="457200" rtl="0" algn="l">
              <a:lnSpc>
                <a:spcPct val="95000"/>
              </a:lnSpc>
              <a:spcBef>
                <a:spcPts val="0"/>
              </a:spcBef>
              <a:spcAft>
                <a:spcPts val="0"/>
              </a:spcAft>
              <a:buClr>
                <a:schemeClr val="dk1"/>
              </a:buClr>
              <a:buSzPts val="1537"/>
              <a:buChar char="●"/>
            </a:pPr>
            <a:r>
              <a:rPr b="1" lang="en" sz="1537">
                <a:solidFill>
                  <a:schemeClr val="dk1"/>
                </a:solidFill>
                <a:latin typeface="Times New Roman"/>
                <a:ea typeface="Times New Roman"/>
                <a:cs typeface="Times New Roman"/>
                <a:sym typeface="Times New Roman"/>
              </a:rPr>
              <a:t>Supply-Chain Tracking</a:t>
            </a:r>
            <a:r>
              <a:rPr lang="en" sz="1537">
                <a:solidFill>
                  <a:schemeClr val="dk1"/>
                </a:solidFill>
                <a:latin typeface="Times New Roman"/>
                <a:ea typeface="Times New Roman"/>
                <a:cs typeface="Times New Roman"/>
                <a:sym typeface="Times New Roman"/>
              </a:rPr>
              <a:t> – shipment, receipt and ownership transfer</a:t>
            </a:r>
            <a:endParaRPr sz="1537">
              <a:solidFill>
                <a:schemeClr val="dk1"/>
              </a:solidFill>
              <a:latin typeface="Times New Roman"/>
              <a:ea typeface="Times New Roman"/>
              <a:cs typeface="Times New Roman"/>
              <a:sym typeface="Times New Roman"/>
            </a:endParaRPr>
          </a:p>
          <a:p>
            <a:pPr indent="-326229" lvl="0" marL="457200" rtl="0" algn="l">
              <a:lnSpc>
                <a:spcPct val="95000"/>
              </a:lnSpc>
              <a:spcBef>
                <a:spcPts val="0"/>
              </a:spcBef>
              <a:spcAft>
                <a:spcPts val="0"/>
              </a:spcAft>
              <a:buClr>
                <a:schemeClr val="dk1"/>
              </a:buClr>
              <a:buSzPts val="1537"/>
              <a:buChar char="●"/>
            </a:pPr>
            <a:r>
              <a:rPr b="1" lang="en" sz="1537">
                <a:solidFill>
                  <a:schemeClr val="dk1"/>
                </a:solidFill>
                <a:latin typeface="Times New Roman"/>
                <a:ea typeface="Times New Roman"/>
                <a:cs typeface="Times New Roman"/>
                <a:sym typeface="Times New Roman"/>
              </a:rPr>
              <a:t>QR/RFID Traceability</a:t>
            </a:r>
            <a:r>
              <a:rPr lang="en" sz="1537">
                <a:solidFill>
                  <a:schemeClr val="dk1"/>
                </a:solidFill>
                <a:latin typeface="Times New Roman"/>
                <a:ea typeface="Times New Roman"/>
                <a:cs typeface="Times New Roman"/>
                <a:sym typeface="Times New Roman"/>
              </a:rPr>
              <a:t> – identity assignment and verification</a:t>
            </a:r>
            <a:endParaRPr sz="1537">
              <a:solidFill>
                <a:schemeClr val="dk1"/>
              </a:solidFill>
              <a:latin typeface="Times New Roman"/>
              <a:ea typeface="Times New Roman"/>
              <a:cs typeface="Times New Roman"/>
              <a:sym typeface="Times New Roman"/>
            </a:endParaRPr>
          </a:p>
          <a:p>
            <a:pPr indent="-326229" lvl="0" marL="457200" rtl="0" algn="l">
              <a:lnSpc>
                <a:spcPct val="95000"/>
              </a:lnSpc>
              <a:spcBef>
                <a:spcPts val="0"/>
              </a:spcBef>
              <a:spcAft>
                <a:spcPts val="0"/>
              </a:spcAft>
              <a:buClr>
                <a:schemeClr val="dk1"/>
              </a:buClr>
              <a:buSzPts val="1537"/>
              <a:buChar char="●"/>
            </a:pPr>
            <a:r>
              <a:rPr b="1" lang="en" sz="1537">
                <a:solidFill>
                  <a:schemeClr val="dk1"/>
                </a:solidFill>
                <a:latin typeface="Times New Roman"/>
                <a:ea typeface="Times New Roman"/>
                <a:cs typeface="Times New Roman"/>
                <a:sym typeface="Times New Roman"/>
              </a:rPr>
              <a:t>Counterfeit Detection</a:t>
            </a:r>
            <a:r>
              <a:rPr lang="en" sz="1537">
                <a:solidFill>
                  <a:schemeClr val="dk1"/>
                </a:solidFill>
                <a:latin typeface="Times New Roman"/>
                <a:ea typeface="Times New Roman"/>
                <a:cs typeface="Times New Roman"/>
                <a:sym typeface="Times New Roman"/>
              </a:rPr>
              <a:t> – suspicious identity mismatch flagging</a:t>
            </a:r>
            <a:endParaRPr sz="1537">
              <a:solidFill>
                <a:schemeClr val="dk1"/>
              </a:solidFill>
              <a:latin typeface="Times New Roman"/>
              <a:ea typeface="Times New Roman"/>
              <a:cs typeface="Times New Roman"/>
              <a:sym typeface="Times New Roman"/>
            </a:endParaRPr>
          </a:p>
          <a:p>
            <a:pPr indent="-326229" lvl="0" marL="457200" rtl="0" algn="l">
              <a:lnSpc>
                <a:spcPct val="95000"/>
              </a:lnSpc>
              <a:spcBef>
                <a:spcPts val="0"/>
              </a:spcBef>
              <a:spcAft>
                <a:spcPts val="0"/>
              </a:spcAft>
              <a:buClr>
                <a:schemeClr val="dk1"/>
              </a:buClr>
              <a:buSzPts val="1537"/>
              <a:buChar char="●"/>
            </a:pPr>
            <a:r>
              <a:rPr b="1" lang="en" sz="1537">
                <a:solidFill>
                  <a:schemeClr val="dk1"/>
                </a:solidFill>
                <a:latin typeface="Times New Roman"/>
                <a:ea typeface="Times New Roman"/>
                <a:cs typeface="Times New Roman"/>
                <a:sym typeface="Times New Roman"/>
              </a:rPr>
              <a:t>IoT Monitoring</a:t>
            </a:r>
            <a:r>
              <a:rPr lang="en" sz="1537">
                <a:solidFill>
                  <a:schemeClr val="dk1"/>
                </a:solidFill>
                <a:latin typeface="Times New Roman"/>
                <a:ea typeface="Times New Roman"/>
                <a:cs typeface="Times New Roman"/>
                <a:sym typeface="Times New Roman"/>
              </a:rPr>
              <a:t> – temperature, humidity, location and movement</a:t>
            </a:r>
            <a:endParaRPr sz="1537">
              <a:solidFill>
                <a:schemeClr val="dk1"/>
              </a:solidFill>
              <a:latin typeface="Times New Roman"/>
              <a:ea typeface="Times New Roman"/>
              <a:cs typeface="Times New Roman"/>
              <a:sym typeface="Times New Roman"/>
            </a:endParaRPr>
          </a:p>
          <a:p>
            <a:pPr indent="-326229" lvl="0" marL="457200" rtl="0" algn="l">
              <a:lnSpc>
                <a:spcPct val="95000"/>
              </a:lnSpc>
              <a:spcBef>
                <a:spcPts val="0"/>
              </a:spcBef>
              <a:spcAft>
                <a:spcPts val="0"/>
              </a:spcAft>
              <a:buClr>
                <a:schemeClr val="dk1"/>
              </a:buClr>
              <a:buSzPts val="1537"/>
              <a:buChar char="●"/>
            </a:pPr>
            <a:r>
              <a:rPr b="1" lang="en" sz="1537">
                <a:solidFill>
                  <a:schemeClr val="dk1"/>
                </a:solidFill>
                <a:latin typeface="Times New Roman"/>
                <a:ea typeface="Times New Roman"/>
                <a:cs typeface="Times New Roman"/>
                <a:sym typeface="Times New Roman"/>
              </a:rPr>
              <a:t>AI Risk Alerts</a:t>
            </a:r>
            <a:r>
              <a:rPr lang="en" sz="1537">
                <a:solidFill>
                  <a:schemeClr val="dk1"/>
                </a:solidFill>
                <a:latin typeface="Times New Roman"/>
                <a:ea typeface="Times New Roman"/>
                <a:cs typeface="Times New Roman"/>
                <a:sym typeface="Times New Roman"/>
              </a:rPr>
              <a:t> – AI-generated alerts stored as audit records</a:t>
            </a:r>
            <a:endParaRPr sz="1537">
              <a:solidFill>
                <a:schemeClr val="dk1"/>
              </a:solidFill>
              <a:latin typeface="Times New Roman"/>
              <a:ea typeface="Times New Roman"/>
              <a:cs typeface="Times New Roman"/>
              <a:sym typeface="Times New Roman"/>
            </a:endParaRPr>
          </a:p>
          <a:p>
            <a:pPr indent="-326229" lvl="0" marL="457200" rtl="0" algn="l">
              <a:lnSpc>
                <a:spcPct val="95000"/>
              </a:lnSpc>
              <a:spcBef>
                <a:spcPts val="0"/>
              </a:spcBef>
              <a:spcAft>
                <a:spcPts val="0"/>
              </a:spcAft>
              <a:buClr>
                <a:schemeClr val="dk1"/>
              </a:buClr>
              <a:buSzPts val="1537"/>
              <a:buChar char="●"/>
            </a:pPr>
            <a:r>
              <a:rPr b="1" lang="en" sz="1537">
                <a:solidFill>
                  <a:schemeClr val="dk1"/>
                </a:solidFill>
                <a:latin typeface="Times New Roman"/>
                <a:ea typeface="Times New Roman"/>
                <a:cs typeface="Times New Roman"/>
                <a:sym typeface="Times New Roman"/>
              </a:rPr>
              <a:t>Immutable History</a:t>
            </a:r>
            <a:r>
              <a:rPr lang="en" sz="1537">
                <a:solidFill>
                  <a:schemeClr val="dk1"/>
                </a:solidFill>
                <a:latin typeface="Times New Roman"/>
                <a:ea typeface="Times New Roman"/>
                <a:cs typeface="Times New Roman"/>
                <a:sym typeface="Times New Roman"/>
              </a:rPr>
              <a:t> – complete batch provenance and audit trail</a:t>
            </a:r>
            <a:endParaRPr sz="1537">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853"/>
              <a:buFont typeface="Arial"/>
              <a:buNone/>
            </a:pPr>
            <a:r>
              <a:rPr b="1" lang="en" sz="1537">
                <a:solidFill>
                  <a:schemeClr val="dk1"/>
                </a:solidFill>
                <a:latin typeface="Times New Roman"/>
                <a:ea typeface="Times New Roman"/>
                <a:cs typeface="Times New Roman"/>
                <a:sym typeface="Times New Roman"/>
              </a:rPr>
              <a:t>Key Design Principle:</a:t>
            </a:r>
            <a:endParaRPr b="1" sz="1537">
              <a:solidFill>
                <a:schemeClr val="dk1"/>
              </a:solidFill>
              <a:latin typeface="Times New Roman"/>
              <a:ea typeface="Times New Roman"/>
              <a:cs typeface="Times New Roman"/>
              <a:sym typeface="Times New Roman"/>
            </a:endParaRPr>
          </a:p>
          <a:p>
            <a:pPr indent="0" lvl="0" marL="381000" marR="381000" rtl="0" algn="l">
              <a:lnSpc>
                <a:spcPct val="95000"/>
              </a:lnSpc>
              <a:spcBef>
                <a:spcPts val="1200"/>
              </a:spcBef>
              <a:spcAft>
                <a:spcPts val="0"/>
              </a:spcAft>
              <a:buClr>
                <a:schemeClr val="dk1"/>
              </a:buClr>
              <a:buSzPts val="853"/>
              <a:buFont typeface="Arial"/>
              <a:buNone/>
            </a:pPr>
            <a:r>
              <a:rPr lang="en" sz="1537">
                <a:solidFill>
                  <a:schemeClr val="dk1"/>
                </a:solidFill>
                <a:latin typeface="Times New Roman"/>
                <a:ea typeface="Times New Roman"/>
                <a:cs typeface="Times New Roman"/>
                <a:sym typeface="Times New Roman"/>
              </a:rPr>
              <a:t>Blockchain acts as the </a:t>
            </a:r>
            <a:r>
              <a:rPr b="1" lang="en" sz="1537">
                <a:solidFill>
                  <a:schemeClr val="dk1"/>
                </a:solidFill>
                <a:latin typeface="Times New Roman"/>
                <a:ea typeface="Times New Roman"/>
                <a:cs typeface="Times New Roman"/>
                <a:sym typeface="Times New Roman"/>
              </a:rPr>
              <a:t>trusted audit layer</a:t>
            </a:r>
            <a:r>
              <a:rPr lang="en" sz="1537">
                <a:solidFill>
                  <a:schemeClr val="dk1"/>
                </a:solidFill>
                <a:latin typeface="Times New Roman"/>
                <a:ea typeface="Times New Roman"/>
                <a:cs typeface="Times New Roman"/>
                <a:sym typeface="Times New Roman"/>
              </a:rPr>
              <a:t>, while AI and operational processing remain outside the blockchain.</a:t>
            </a:r>
            <a:endParaRPr sz="1537">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853"/>
              <a:buNone/>
            </a:pPr>
            <a:r>
              <a:t/>
            </a:r>
            <a:endParaRPr sz="1185">
              <a:solidFill>
                <a:schemeClr val="dk1"/>
              </a:solidFill>
              <a:latin typeface="Times New Roman"/>
              <a:ea typeface="Times New Roman"/>
              <a:cs typeface="Times New Roman"/>
              <a:sym typeface="Times New Roman"/>
            </a:endParaRPr>
          </a:p>
        </p:txBody>
      </p:sp>
      <p:pic>
        <p:nvPicPr>
          <p:cNvPr id="85" name="Google Shape;85;p17"/>
          <p:cNvPicPr preferRelativeResize="0"/>
          <p:nvPr/>
        </p:nvPicPr>
        <p:blipFill>
          <a:blip r:embed="rId3">
            <a:alphaModFix/>
          </a:blip>
          <a:stretch>
            <a:fillRect/>
          </a:stretch>
        </p:blipFill>
        <p:spPr>
          <a:xfrm>
            <a:off x="7782677" y="0"/>
            <a:ext cx="1361325" cy="445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86600" y="1435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220">
                <a:latin typeface="Times New Roman"/>
                <a:ea typeface="Times New Roman"/>
                <a:cs typeface="Times New Roman"/>
                <a:sym typeface="Times New Roman"/>
              </a:rPr>
              <a:t>System Architecture </a:t>
            </a:r>
            <a:endParaRPr b="1" sz="3220">
              <a:latin typeface="Times New Roman"/>
              <a:ea typeface="Times New Roman"/>
              <a:cs typeface="Times New Roman"/>
              <a:sym typeface="Times New Roman"/>
            </a:endParaRPr>
          </a:p>
        </p:txBody>
      </p:sp>
      <p:pic>
        <p:nvPicPr>
          <p:cNvPr id="91" name="Google Shape;91;p18"/>
          <p:cNvPicPr preferRelativeResize="0"/>
          <p:nvPr/>
        </p:nvPicPr>
        <p:blipFill>
          <a:blip r:embed="rId3">
            <a:alphaModFix/>
          </a:blip>
          <a:stretch>
            <a:fillRect/>
          </a:stretch>
        </p:blipFill>
        <p:spPr>
          <a:xfrm>
            <a:off x="2151288" y="825075"/>
            <a:ext cx="4841426" cy="4255151"/>
          </a:xfrm>
          <a:prstGeom prst="rect">
            <a:avLst/>
          </a:prstGeom>
          <a:noFill/>
          <a:ln>
            <a:noFill/>
          </a:ln>
        </p:spPr>
      </p:pic>
      <p:pic>
        <p:nvPicPr>
          <p:cNvPr id="92" name="Google Shape;92;p18"/>
          <p:cNvPicPr preferRelativeResize="0"/>
          <p:nvPr/>
        </p:nvPicPr>
        <p:blipFill>
          <a:blip r:embed="rId4">
            <a:alphaModFix/>
          </a:blip>
          <a:stretch>
            <a:fillRect/>
          </a:stretch>
        </p:blipFill>
        <p:spPr>
          <a:xfrm>
            <a:off x="7782677" y="0"/>
            <a:ext cx="1361325" cy="445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16625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220">
                <a:latin typeface="Times New Roman"/>
                <a:ea typeface="Times New Roman"/>
                <a:cs typeface="Times New Roman"/>
                <a:sym typeface="Times New Roman"/>
              </a:rPr>
              <a:t>Workflow</a:t>
            </a:r>
            <a:endParaRPr b="1" sz="3220">
              <a:latin typeface="Times New Roman"/>
              <a:ea typeface="Times New Roman"/>
              <a:cs typeface="Times New Roman"/>
              <a:sym typeface="Times New Roman"/>
            </a:endParaRPr>
          </a:p>
        </p:txBody>
      </p:sp>
      <p:pic>
        <p:nvPicPr>
          <p:cNvPr id="98" name="Google Shape;98;p19"/>
          <p:cNvPicPr preferRelativeResize="0"/>
          <p:nvPr/>
        </p:nvPicPr>
        <p:blipFill>
          <a:blip r:embed="rId3">
            <a:alphaModFix/>
          </a:blip>
          <a:stretch>
            <a:fillRect/>
          </a:stretch>
        </p:blipFill>
        <p:spPr>
          <a:xfrm>
            <a:off x="1951925" y="738950"/>
            <a:ext cx="5240149" cy="4289074"/>
          </a:xfrm>
          <a:prstGeom prst="rect">
            <a:avLst/>
          </a:prstGeom>
          <a:noFill/>
          <a:ln>
            <a:noFill/>
          </a:ln>
        </p:spPr>
      </p:pic>
      <p:pic>
        <p:nvPicPr>
          <p:cNvPr id="99" name="Google Shape;99;p19"/>
          <p:cNvPicPr preferRelativeResize="0"/>
          <p:nvPr/>
        </p:nvPicPr>
        <p:blipFill>
          <a:blip r:embed="rId4">
            <a:alphaModFix/>
          </a:blip>
          <a:stretch>
            <a:fillRect/>
          </a:stretch>
        </p:blipFill>
        <p:spPr>
          <a:xfrm>
            <a:off x="7782677" y="0"/>
            <a:ext cx="1361325" cy="445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3203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220">
                <a:latin typeface="Times New Roman"/>
                <a:ea typeface="Times New Roman"/>
                <a:cs typeface="Times New Roman"/>
                <a:sym typeface="Times New Roman"/>
              </a:rPr>
              <a:t>Methodology Adopted</a:t>
            </a:r>
            <a:r>
              <a:rPr lang="en" sz="3220"/>
              <a:t> </a:t>
            </a:r>
            <a:endParaRPr sz="3220"/>
          </a:p>
        </p:txBody>
      </p:sp>
      <p:sp>
        <p:nvSpPr>
          <p:cNvPr id="105" name="Google Shape;105;p20"/>
          <p:cNvSpPr txBox="1"/>
          <p:nvPr>
            <p:ph idx="1" type="body"/>
          </p:nvPr>
        </p:nvSpPr>
        <p:spPr>
          <a:xfrm>
            <a:off x="311700" y="1012200"/>
            <a:ext cx="8520600" cy="3416400"/>
          </a:xfrm>
          <a:prstGeom prst="rect">
            <a:avLst/>
          </a:prstGeom>
        </p:spPr>
        <p:txBody>
          <a:bodyPr anchorCtr="0" anchor="t" bIns="91425" lIns="91425" spcFirstLastPara="1" rIns="91425" wrap="square" tIns="91425">
            <a:noAutofit/>
          </a:bodyPr>
          <a:lstStyle/>
          <a:p>
            <a:pPr indent="0" lvl="0" marL="0" rtl="0" algn="l">
              <a:spcBef>
                <a:spcPts val="1800"/>
              </a:spcBef>
              <a:spcAft>
                <a:spcPts val="0"/>
              </a:spcAft>
              <a:buClr>
                <a:schemeClr val="dk1"/>
              </a:buClr>
              <a:buSzPts val="358"/>
              <a:buFont typeface="Arial"/>
              <a:buNone/>
            </a:pPr>
            <a:r>
              <a:rPr b="1" lang="en" sz="1450">
                <a:solidFill>
                  <a:schemeClr val="dk1"/>
                </a:solidFill>
                <a:latin typeface="Times New Roman"/>
                <a:ea typeface="Times New Roman"/>
                <a:cs typeface="Times New Roman"/>
                <a:sym typeface="Times New Roman"/>
              </a:rPr>
              <a:t>Methodology Adopted</a:t>
            </a:r>
            <a:endParaRPr b="1" sz="1450">
              <a:solidFill>
                <a:schemeClr val="dk1"/>
              </a:solidFill>
              <a:latin typeface="Times New Roman"/>
              <a:ea typeface="Times New Roman"/>
              <a:cs typeface="Times New Roman"/>
              <a:sym typeface="Times New Roman"/>
            </a:endParaRPr>
          </a:p>
          <a:p>
            <a:pPr indent="-320675" lvl="0" marL="457200" rtl="0" algn="l">
              <a:spcBef>
                <a:spcPts val="1200"/>
              </a:spcBef>
              <a:spcAft>
                <a:spcPts val="0"/>
              </a:spcAft>
              <a:buClr>
                <a:schemeClr val="dk1"/>
              </a:buClr>
              <a:buSzPts val="1450"/>
              <a:buChar char="●"/>
            </a:pPr>
            <a:r>
              <a:rPr b="1" lang="en" sz="1450">
                <a:solidFill>
                  <a:schemeClr val="dk1"/>
                </a:solidFill>
                <a:latin typeface="Times New Roman"/>
                <a:ea typeface="Times New Roman"/>
                <a:cs typeface="Times New Roman"/>
                <a:sym typeface="Times New Roman"/>
              </a:rPr>
              <a:t>Drug Registration &amp; Batch Creation</a:t>
            </a:r>
            <a:r>
              <a:rPr lang="en" sz="1450">
                <a:solidFill>
                  <a:schemeClr val="dk1"/>
                </a:solidFill>
                <a:latin typeface="Times New Roman"/>
                <a:ea typeface="Times New Roman"/>
                <a:cs typeface="Times New Roman"/>
                <a:sym typeface="Times New Roman"/>
              </a:rPr>
              <a:t> – Register medicines and create unique pharmaceutical batches.</a:t>
            </a:r>
            <a:endParaRPr sz="1450">
              <a:solidFill>
                <a:schemeClr val="dk1"/>
              </a:solidFill>
              <a:latin typeface="Times New Roman"/>
              <a:ea typeface="Times New Roman"/>
              <a:cs typeface="Times New Roman"/>
              <a:sym typeface="Times New Roman"/>
            </a:endParaRPr>
          </a:p>
          <a:p>
            <a:pPr indent="-320675" lvl="0" marL="457200" rtl="0" algn="l">
              <a:spcBef>
                <a:spcPts val="0"/>
              </a:spcBef>
              <a:spcAft>
                <a:spcPts val="0"/>
              </a:spcAft>
              <a:buClr>
                <a:schemeClr val="dk1"/>
              </a:buClr>
              <a:buSzPts val="1450"/>
              <a:buChar char="●"/>
            </a:pPr>
            <a:r>
              <a:rPr b="1" lang="en" sz="1450">
                <a:solidFill>
                  <a:schemeClr val="dk1"/>
                </a:solidFill>
                <a:latin typeface="Times New Roman"/>
                <a:ea typeface="Times New Roman"/>
                <a:cs typeface="Times New Roman"/>
                <a:sym typeface="Times New Roman"/>
              </a:rPr>
              <a:t>QR/RFID Tagging</a:t>
            </a:r>
            <a:r>
              <a:rPr lang="en" sz="1450">
                <a:solidFill>
                  <a:schemeClr val="dk1"/>
                </a:solidFill>
                <a:latin typeface="Times New Roman"/>
                <a:ea typeface="Times New Roman"/>
                <a:cs typeface="Times New Roman"/>
                <a:sym typeface="Times New Roman"/>
              </a:rPr>
              <a:t> – Assign unique QR and RFID identities to each drug batch.</a:t>
            </a:r>
            <a:endParaRPr sz="1450">
              <a:solidFill>
                <a:schemeClr val="dk1"/>
              </a:solidFill>
              <a:latin typeface="Times New Roman"/>
              <a:ea typeface="Times New Roman"/>
              <a:cs typeface="Times New Roman"/>
              <a:sym typeface="Times New Roman"/>
            </a:endParaRPr>
          </a:p>
          <a:p>
            <a:pPr indent="-320675" lvl="0" marL="457200" rtl="0" algn="l">
              <a:spcBef>
                <a:spcPts val="0"/>
              </a:spcBef>
              <a:spcAft>
                <a:spcPts val="0"/>
              </a:spcAft>
              <a:buClr>
                <a:schemeClr val="dk1"/>
              </a:buClr>
              <a:buSzPts val="1450"/>
              <a:buChar char="●"/>
            </a:pPr>
            <a:r>
              <a:rPr b="1" lang="en" sz="1450">
                <a:solidFill>
                  <a:schemeClr val="dk1"/>
                </a:solidFill>
                <a:latin typeface="Times New Roman"/>
                <a:ea typeface="Times New Roman"/>
                <a:cs typeface="Times New Roman"/>
                <a:sym typeface="Times New Roman"/>
              </a:rPr>
              <a:t>Blockchain Recording</a:t>
            </a:r>
            <a:r>
              <a:rPr lang="en" sz="1450">
                <a:solidFill>
                  <a:schemeClr val="dk1"/>
                </a:solidFill>
                <a:latin typeface="Times New Roman"/>
                <a:ea typeface="Times New Roman"/>
                <a:cs typeface="Times New Roman"/>
                <a:sym typeface="Times New Roman"/>
              </a:rPr>
              <a:t> – Store critical drug, batch, ownership and transaction records using </a:t>
            </a:r>
            <a:r>
              <a:rPr b="1" lang="en" sz="1450">
                <a:solidFill>
                  <a:schemeClr val="dk1"/>
                </a:solidFill>
                <a:latin typeface="Times New Roman"/>
                <a:ea typeface="Times New Roman"/>
                <a:cs typeface="Times New Roman"/>
                <a:sym typeface="Times New Roman"/>
              </a:rPr>
              <a:t>Hyperledger Fabric</a:t>
            </a:r>
            <a:r>
              <a:rPr lang="en" sz="1450">
                <a:solidFill>
                  <a:schemeClr val="dk1"/>
                </a:solidFill>
                <a:latin typeface="Times New Roman"/>
                <a:ea typeface="Times New Roman"/>
                <a:cs typeface="Times New Roman"/>
                <a:sym typeface="Times New Roman"/>
              </a:rPr>
              <a:t>.</a:t>
            </a:r>
            <a:endParaRPr sz="1450">
              <a:solidFill>
                <a:schemeClr val="dk1"/>
              </a:solidFill>
              <a:latin typeface="Times New Roman"/>
              <a:ea typeface="Times New Roman"/>
              <a:cs typeface="Times New Roman"/>
              <a:sym typeface="Times New Roman"/>
            </a:endParaRPr>
          </a:p>
          <a:p>
            <a:pPr indent="-320675" lvl="0" marL="457200" rtl="0" algn="l">
              <a:spcBef>
                <a:spcPts val="0"/>
              </a:spcBef>
              <a:spcAft>
                <a:spcPts val="0"/>
              </a:spcAft>
              <a:buClr>
                <a:schemeClr val="dk1"/>
              </a:buClr>
              <a:buSzPts val="1450"/>
              <a:buChar char="●"/>
            </a:pPr>
            <a:r>
              <a:rPr b="1" lang="en" sz="1450">
                <a:solidFill>
                  <a:schemeClr val="dk1"/>
                </a:solidFill>
                <a:latin typeface="Times New Roman"/>
                <a:ea typeface="Times New Roman"/>
                <a:cs typeface="Times New Roman"/>
                <a:sym typeface="Times New Roman"/>
              </a:rPr>
              <a:t>Supply-Chain Tracking</a:t>
            </a:r>
            <a:r>
              <a:rPr lang="en" sz="1450">
                <a:solidFill>
                  <a:schemeClr val="dk1"/>
                </a:solidFill>
                <a:latin typeface="Times New Roman"/>
                <a:ea typeface="Times New Roman"/>
                <a:cs typeface="Times New Roman"/>
                <a:sym typeface="Times New Roman"/>
              </a:rPr>
              <a:t> – Track shipment, transportation, receipt and ownership transfer.</a:t>
            </a:r>
            <a:endParaRPr sz="1450">
              <a:solidFill>
                <a:schemeClr val="dk1"/>
              </a:solidFill>
              <a:latin typeface="Times New Roman"/>
              <a:ea typeface="Times New Roman"/>
              <a:cs typeface="Times New Roman"/>
              <a:sym typeface="Times New Roman"/>
            </a:endParaRPr>
          </a:p>
          <a:p>
            <a:pPr indent="-320675" lvl="0" marL="457200" rtl="0" algn="l">
              <a:spcBef>
                <a:spcPts val="0"/>
              </a:spcBef>
              <a:spcAft>
                <a:spcPts val="0"/>
              </a:spcAft>
              <a:buClr>
                <a:schemeClr val="dk1"/>
              </a:buClr>
              <a:buSzPts val="1450"/>
              <a:buChar char="●"/>
            </a:pPr>
            <a:r>
              <a:rPr b="1" lang="en" sz="1450">
                <a:solidFill>
                  <a:schemeClr val="dk1"/>
                </a:solidFill>
                <a:latin typeface="Times New Roman"/>
                <a:ea typeface="Times New Roman"/>
                <a:cs typeface="Times New Roman"/>
                <a:sym typeface="Times New Roman"/>
              </a:rPr>
              <a:t>IoT Monitoring</a:t>
            </a:r>
            <a:r>
              <a:rPr lang="en" sz="1450">
                <a:solidFill>
                  <a:schemeClr val="dk1"/>
                </a:solidFill>
                <a:latin typeface="Times New Roman"/>
                <a:ea typeface="Times New Roman"/>
                <a:cs typeface="Times New Roman"/>
                <a:sym typeface="Times New Roman"/>
              </a:rPr>
              <a:t> – Monitor parameters such as </a:t>
            </a:r>
            <a:r>
              <a:rPr b="1" lang="en" sz="1450">
                <a:solidFill>
                  <a:schemeClr val="dk1"/>
                </a:solidFill>
                <a:latin typeface="Times New Roman"/>
                <a:ea typeface="Times New Roman"/>
                <a:cs typeface="Times New Roman"/>
                <a:sym typeface="Times New Roman"/>
              </a:rPr>
              <a:t>temperature, humidity, location and movement</a:t>
            </a:r>
            <a:r>
              <a:rPr lang="en" sz="1450">
                <a:solidFill>
                  <a:schemeClr val="dk1"/>
                </a:solidFill>
                <a:latin typeface="Times New Roman"/>
                <a:ea typeface="Times New Roman"/>
                <a:cs typeface="Times New Roman"/>
                <a:sym typeface="Times New Roman"/>
              </a:rPr>
              <a:t> during transportation.</a:t>
            </a:r>
            <a:endParaRPr sz="1450">
              <a:solidFill>
                <a:schemeClr val="dk1"/>
              </a:solidFill>
              <a:latin typeface="Times New Roman"/>
              <a:ea typeface="Times New Roman"/>
              <a:cs typeface="Times New Roman"/>
              <a:sym typeface="Times New Roman"/>
            </a:endParaRPr>
          </a:p>
          <a:p>
            <a:pPr indent="-320675" lvl="0" marL="457200" rtl="0" algn="l">
              <a:spcBef>
                <a:spcPts val="0"/>
              </a:spcBef>
              <a:spcAft>
                <a:spcPts val="0"/>
              </a:spcAft>
              <a:buClr>
                <a:schemeClr val="dk1"/>
              </a:buClr>
              <a:buSzPts val="1450"/>
              <a:buChar char="●"/>
            </a:pPr>
            <a:r>
              <a:rPr b="1" lang="en" sz="1450">
                <a:solidFill>
                  <a:schemeClr val="dk1"/>
                </a:solidFill>
                <a:latin typeface="Times New Roman"/>
                <a:ea typeface="Times New Roman"/>
                <a:cs typeface="Times New Roman"/>
                <a:sym typeface="Times New Roman"/>
              </a:rPr>
              <a:t>AI-Based Anomaly Detection</a:t>
            </a:r>
            <a:r>
              <a:rPr lang="en" sz="1450">
                <a:solidFill>
                  <a:schemeClr val="dk1"/>
                </a:solidFill>
                <a:latin typeface="Times New Roman"/>
                <a:ea typeface="Times New Roman"/>
                <a:cs typeface="Times New Roman"/>
                <a:sym typeface="Times New Roman"/>
              </a:rPr>
              <a:t> – Analyze supply-chain data to identify abnormal or high-risk conditions.</a:t>
            </a:r>
            <a:endParaRPr sz="1450">
              <a:solidFill>
                <a:schemeClr val="dk1"/>
              </a:solidFill>
              <a:latin typeface="Times New Roman"/>
              <a:ea typeface="Times New Roman"/>
              <a:cs typeface="Times New Roman"/>
              <a:sym typeface="Times New Roman"/>
            </a:endParaRPr>
          </a:p>
          <a:p>
            <a:pPr indent="-320675" lvl="0" marL="457200" rtl="0" algn="l">
              <a:spcBef>
                <a:spcPts val="0"/>
              </a:spcBef>
              <a:spcAft>
                <a:spcPts val="0"/>
              </a:spcAft>
              <a:buClr>
                <a:schemeClr val="dk1"/>
              </a:buClr>
              <a:buSzPts val="1450"/>
              <a:buChar char="●"/>
            </a:pPr>
            <a:r>
              <a:rPr b="1" lang="en" sz="1450">
                <a:solidFill>
                  <a:schemeClr val="dk1"/>
                </a:solidFill>
                <a:latin typeface="Times New Roman"/>
                <a:ea typeface="Times New Roman"/>
                <a:cs typeface="Times New Roman"/>
                <a:sym typeface="Times New Roman"/>
              </a:rPr>
              <a:t>Alert Generation</a:t>
            </a:r>
            <a:r>
              <a:rPr lang="en" sz="1450">
                <a:solidFill>
                  <a:schemeClr val="dk1"/>
                </a:solidFill>
                <a:latin typeface="Times New Roman"/>
                <a:ea typeface="Times New Roman"/>
                <a:cs typeface="Times New Roman"/>
                <a:sym typeface="Times New Roman"/>
              </a:rPr>
              <a:t> – Generate alerts when anomalies or potential risks are detected.</a:t>
            </a:r>
            <a:endParaRPr sz="1450">
              <a:solidFill>
                <a:schemeClr val="dk1"/>
              </a:solidFill>
              <a:latin typeface="Times New Roman"/>
              <a:ea typeface="Times New Roman"/>
              <a:cs typeface="Times New Roman"/>
              <a:sym typeface="Times New Roman"/>
            </a:endParaRPr>
          </a:p>
          <a:p>
            <a:pPr indent="-320675" lvl="0" marL="457200" rtl="0" algn="l">
              <a:spcBef>
                <a:spcPts val="0"/>
              </a:spcBef>
              <a:spcAft>
                <a:spcPts val="0"/>
              </a:spcAft>
              <a:buClr>
                <a:schemeClr val="dk1"/>
              </a:buClr>
              <a:buSzPts val="1450"/>
              <a:buChar char="●"/>
            </a:pPr>
            <a:r>
              <a:rPr b="1" lang="en" sz="1450">
                <a:solidFill>
                  <a:schemeClr val="dk1"/>
                </a:solidFill>
                <a:latin typeface="Times New Roman"/>
                <a:ea typeface="Times New Roman"/>
                <a:cs typeface="Times New Roman"/>
                <a:sym typeface="Times New Roman"/>
              </a:rPr>
              <a:t>QR/RFID Verification</a:t>
            </a:r>
            <a:r>
              <a:rPr lang="en" sz="1450">
                <a:solidFill>
                  <a:schemeClr val="dk1"/>
                </a:solidFill>
                <a:latin typeface="Times New Roman"/>
                <a:ea typeface="Times New Roman"/>
                <a:cs typeface="Times New Roman"/>
                <a:sym typeface="Times New Roman"/>
              </a:rPr>
              <a:t> – Verify the medicine's identity at the pharmacy/retailer stage.</a:t>
            </a:r>
            <a:endParaRPr sz="1450">
              <a:solidFill>
                <a:schemeClr val="dk1"/>
              </a:solidFill>
              <a:latin typeface="Times New Roman"/>
              <a:ea typeface="Times New Roman"/>
              <a:cs typeface="Times New Roman"/>
              <a:sym typeface="Times New Roman"/>
            </a:endParaRPr>
          </a:p>
          <a:p>
            <a:pPr indent="-320675" lvl="0" marL="457200" rtl="0" algn="l">
              <a:spcBef>
                <a:spcPts val="0"/>
              </a:spcBef>
              <a:spcAft>
                <a:spcPts val="0"/>
              </a:spcAft>
              <a:buClr>
                <a:schemeClr val="dk1"/>
              </a:buClr>
              <a:buSzPts val="1450"/>
              <a:buChar char="●"/>
            </a:pPr>
            <a:r>
              <a:rPr b="1" lang="en" sz="1450">
                <a:solidFill>
                  <a:schemeClr val="dk1"/>
                </a:solidFill>
                <a:latin typeface="Times New Roman"/>
                <a:ea typeface="Times New Roman"/>
                <a:cs typeface="Times New Roman"/>
                <a:sym typeface="Times New Roman"/>
              </a:rPr>
              <a:t>Counterfeit Detection</a:t>
            </a:r>
            <a:r>
              <a:rPr lang="en" sz="1450">
                <a:solidFill>
                  <a:schemeClr val="dk1"/>
                </a:solidFill>
                <a:latin typeface="Times New Roman"/>
                <a:ea typeface="Times New Roman"/>
                <a:cs typeface="Times New Roman"/>
                <a:sym typeface="Times New Roman"/>
              </a:rPr>
              <a:t> – Identify mismatched or suspicious QR/RFID information and flag the medicine.</a:t>
            </a:r>
            <a:endParaRPr sz="1450">
              <a:solidFill>
                <a:schemeClr val="dk1"/>
              </a:solidFill>
              <a:latin typeface="Times New Roman"/>
              <a:ea typeface="Times New Roman"/>
              <a:cs typeface="Times New Roman"/>
              <a:sym typeface="Times New Roman"/>
            </a:endParaRPr>
          </a:p>
          <a:p>
            <a:pPr indent="-320675" lvl="0" marL="457200" rtl="0" algn="l">
              <a:spcBef>
                <a:spcPts val="0"/>
              </a:spcBef>
              <a:spcAft>
                <a:spcPts val="0"/>
              </a:spcAft>
              <a:buClr>
                <a:schemeClr val="dk1"/>
              </a:buClr>
              <a:buSzPts val="1450"/>
              <a:buChar char="●"/>
            </a:pPr>
            <a:r>
              <a:rPr b="1" lang="en" sz="1450">
                <a:solidFill>
                  <a:schemeClr val="dk1"/>
                </a:solidFill>
                <a:latin typeface="Times New Roman"/>
                <a:ea typeface="Times New Roman"/>
                <a:cs typeface="Times New Roman"/>
                <a:sym typeface="Times New Roman"/>
              </a:rPr>
              <a:t>Immutable Traceability</a:t>
            </a:r>
            <a:r>
              <a:rPr lang="en" sz="1450">
                <a:solidFill>
                  <a:schemeClr val="dk1"/>
                </a:solidFill>
                <a:latin typeface="Times New Roman"/>
                <a:ea typeface="Times New Roman"/>
                <a:cs typeface="Times New Roman"/>
                <a:sym typeface="Times New Roman"/>
              </a:rPr>
              <a:t> – Maintain the complete batch history and audit trail on the blockchain.</a:t>
            </a:r>
            <a:endParaRPr sz="1450">
              <a:solidFill>
                <a:schemeClr val="dk1"/>
              </a:solidFill>
              <a:latin typeface="Times New Roman"/>
              <a:ea typeface="Times New Roman"/>
              <a:cs typeface="Times New Roman"/>
              <a:sym typeface="Times New Roman"/>
            </a:endParaRPr>
          </a:p>
          <a:p>
            <a:pPr indent="0" lvl="0" marL="0" rtl="0" algn="l">
              <a:spcBef>
                <a:spcPts val="1200"/>
              </a:spcBef>
              <a:spcAft>
                <a:spcPts val="1200"/>
              </a:spcAft>
              <a:buSzPts val="358"/>
              <a:buNone/>
            </a:pPr>
            <a:r>
              <a:t/>
            </a:r>
            <a:endParaRPr sz="1450"/>
          </a:p>
        </p:txBody>
      </p:sp>
      <p:pic>
        <p:nvPicPr>
          <p:cNvPr id="106" name="Google Shape;106;p20"/>
          <p:cNvPicPr preferRelativeResize="0"/>
          <p:nvPr/>
        </p:nvPicPr>
        <p:blipFill>
          <a:blip r:embed="rId3">
            <a:alphaModFix/>
          </a:blip>
          <a:stretch>
            <a:fillRect/>
          </a:stretch>
        </p:blipFill>
        <p:spPr>
          <a:xfrm>
            <a:off x="7782677" y="0"/>
            <a:ext cx="1361325" cy="4450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idx="1" type="body"/>
          </p:nvPr>
        </p:nvSpPr>
        <p:spPr>
          <a:xfrm>
            <a:off x="311700" y="762825"/>
            <a:ext cx="8520600" cy="34164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 sz="2100">
                <a:solidFill>
                  <a:schemeClr val="dk1"/>
                </a:solidFill>
                <a:latin typeface="Times New Roman"/>
                <a:ea typeface="Times New Roman"/>
                <a:cs typeface="Times New Roman"/>
                <a:sym typeface="Times New Roman"/>
              </a:rPr>
              <a:t>Methodology Features</a:t>
            </a:r>
            <a:endParaRPr b="1" sz="2100">
              <a:solidFill>
                <a:schemeClr val="dk1"/>
              </a:solidFill>
              <a:latin typeface="Times New Roman"/>
              <a:ea typeface="Times New Roman"/>
              <a:cs typeface="Times New Roman"/>
              <a:sym typeface="Times New Roman"/>
            </a:endParaRPr>
          </a:p>
          <a:p>
            <a:pPr indent="-361950" lvl="0" marL="457200" rtl="0" algn="l">
              <a:spcBef>
                <a:spcPts val="1200"/>
              </a:spcBef>
              <a:spcAft>
                <a:spcPts val="0"/>
              </a:spcAft>
              <a:buClr>
                <a:schemeClr val="dk1"/>
              </a:buClr>
              <a:buSzPts val="2100"/>
              <a:buFont typeface="Times New Roman"/>
              <a:buChar char="●"/>
            </a:pPr>
            <a:r>
              <a:rPr lang="en" sz="2100">
                <a:solidFill>
                  <a:schemeClr val="dk1"/>
                </a:solidFill>
                <a:latin typeface="Times New Roman"/>
                <a:ea typeface="Times New Roman"/>
                <a:cs typeface="Times New Roman"/>
                <a:sym typeface="Times New Roman"/>
              </a:rPr>
              <a:t>Each drug and batch receives a unique identity</a:t>
            </a:r>
            <a:endParaRPr sz="2100">
              <a:solidFill>
                <a:schemeClr val="dk1"/>
              </a:solidFill>
              <a:latin typeface="Times New Roman"/>
              <a:ea typeface="Times New Roman"/>
              <a:cs typeface="Times New Roman"/>
              <a:sym typeface="Times New Roman"/>
            </a:endParaRPr>
          </a:p>
          <a:p>
            <a:pPr indent="-361950" lvl="0" marL="457200" rtl="0" algn="l">
              <a:spcBef>
                <a:spcPts val="0"/>
              </a:spcBef>
              <a:spcAft>
                <a:spcPts val="0"/>
              </a:spcAft>
              <a:buClr>
                <a:schemeClr val="dk1"/>
              </a:buClr>
              <a:buSzPts val="2100"/>
              <a:buFont typeface="Times New Roman"/>
              <a:buChar char="●"/>
            </a:pPr>
            <a:r>
              <a:rPr lang="en" sz="2100">
                <a:solidFill>
                  <a:schemeClr val="dk1"/>
                </a:solidFill>
                <a:latin typeface="Times New Roman"/>
                <a:ea typeface="Times New Roman"/>
                <a:cs typeface="Times New Roman"/>
                <a:sym typeface="Times New Roman"/>
              </a:rPr>
              <a:t>Supply-chain transactions are recorded on the ledger</a:t>
            </a:r>
            <a:endParaRPr sz="2100">
              <a:solidFill>
                <a:schemeClr val="dk1"/>
              </a:solidFill>
              <a:latin typeface="Times New Roman"/>
              <a:ea typeface="Times New Roman"/>
              <a:cs typeface="Times New Roman"/>
              <a:sym typeface="Times New Roman"/>
            </a:endParaRPr>
          </a:p>
          <a:p>
            <a:pPr indent="-361950" lvl="0" marL="457200" rtl="0" algn="l">
              <a:spcBef>
                <a:spcPts val="0"/>
              </a:spcBef>
              <a:spcAft>
                <a:spcPts val="0"/>
              </a:spcAft>
              <a:buClr>
                <a:schemeClr val="dk1"/>
              </a:buClr>
              <a:buSzPts val="2100"/>
              <a:buFont typeface="Times New Roman"/>
              <a:buChar char="●"/>
            </a:pPr>
            <a:r>
              <a:rPr lang="en" sz="2100">
                <a:solidFill>
                  <a:schemeClr val="dk1"/>
                </a:solidFill>
                <a:latin typeface="Times New Roman"/>
                <a:ea typeface="Times New Roman"/>
                <a:cs typeface="Times New Roman"/>
                <a:sym typeface="Times New Roman"/>
              </a:rPr>
              <a:t>Ownership is validated before transfer</a:t>
            </a:r>
            <a:endParaRPr sz="2100">
              <a:solidFill>
                <a:schemeClr val="dk1"/>
              </a:solidFill>
              <a:latin typeface="Times New Roman"/>
              <a:ea typeface="Times New Roman"/>
              <a:cs typeface="Times New Roman"/>
              <a:sym typeface="Times New Roman"/>
            </a:endParaRPr>
          </a:p>
          <a:p>
            <a:pPr indent="-361950" lvl="0" marL="457200" rtl="0" algn="l">
              <a:spcBef>
                <a:spcPts val="0"/>
              </a:spcBef>
              <a:spcAft>
                <a:spcPts val="0"/>
              </a:spcAft>
              <a:buClr>
                <a:schemeClr val="dk1"/>
              </a:buClr>
              <a:buSzPts val="2100"/>
              <a:buFont typeface="Times New Roman"/>
              <a:buChar char="●"/>
            </a:pPr>
            <a:r>
              <a:rPr lang="en" sz="2100">
                <a:solidFill>
                  <a:schemeClr val="dk1"/>
                </a:solidFill>
                <a:latin typeface="Times New Roman"/>
                <a:ea typeface="Times New Roman"/>
                <a:cs typeface="Times New Roman"/>
                <a:sym typeface="Times New Roman"/>
              </a:rPr>
              <a:t>QR/RFID mismatches generate suspicious results</a:t>
            </a:r>
            <a:endParaRPr sz="2100">
              <a:solidFill>
                <a:schemeClr val="dk1"/>
              </a:solidFill>
              <a:latin typeface="Times New Roman"/>
              <a:ea typeface="Times New Roman"/>
              <a:cs typeface="Times New Roman"/>
              <a:sym typeface="Times New Roman"/>
            </a:endParaRPr>
          </a:p>
          <a:p>
            <a:pPr indent="-361950" lvl="0" marL="457200" rtl="0" algn="l">
              <a:spcBef>
                <a:spcPts val="0"/>
              </a:spcBef>
              <a:spcAft>
                <a:spcPts val="0"/>
              </a:spcAft>
              <a:buClr>
                <a:schemeClr val="dk1"/>
              </a:buClr>
              <a:buSzPts val="2100"/>
              <a:buFont typeface="Times New Roman"/>
              <a:buChar char="●"/>
            </a:pPr>
            <a:r>
              <a:rPr lang="en" sz="2100">
                <a:solidFill>
                  <a:schemeClr val="dk1"/>
                </a:solidFill>
                <a:latin typeface="Times New Roman"/>
                <a:ea typeface="Times New Roman"/>
                <a:cs typeface="Times New Roman"/>
                <a:sym typeface="Times New Roman"/>
              </a:rPr>
              <a:t>IoT events provide shipment-monitoring information</a:t>
            </a:r>
            <a:endParaRPr sz="2100">
              <a:solidFill>
                <a:schemeClr val="dk1"/>
              </a:solidFill>
              <a:latin typeface="Times New Roman"/>
              <a:ea typeface="Times New Roman"/>
              <a:cs typeface="Times New Roman"/>
              <a:sym typeface="Times New Roman"/>
            </a:endParaRPr>
          </a:p>
          <a:p>
            <a:pPr indent="-361950" lvl="0" marL="457200" rtl="0" algn="l">
              <a:spcBef>
                <a:spcPts val="0"/>
              </a:spcBef>
              <a:spcAft>
                <a:spcPts val="0"/>
              </a:spcAft>
              <a:buClr>
                <a:schemeClr val="dk1"/>
              </a:buClr>
              <a:buSzPts val="2100"/>
              <a:buFont typeface="Times New Roman"/>
              <a:buChar char="●"/>
            </a:pPr>
            <a:r>
              <a:rPr lang="en" sz="2100">
                <a:solidFill>
                  <a:schemeClr val="dk1"/>
                </a:solidFill>
                <a:latin typeface="Times New Roman"/>
                <a:ea typeface="Times New Roman"/>
                <a:cs typeface="Times New Roman"/>
                <a:sym typeface="Times New Roman"/>
              </a:rPr>
              <a:t>AI-generated risk alerts are recorded for auditability</a:t>
            </a:r>
            <a:endParaRPr sz="2100">
              <a:solidFill>
                <a:schemeClr val="dk1"/>
              </a:solidFill>
              <a:latin typeface="Times New Roman"/>
              <a:ea typeface="Times New Roman"/>
              <a:cs typeface="Times New Roman"/>
              <a:sym typeface="Times New Roman"/>
            </a:endParaRPr>
          </a:p>
          <a:p>
            <a:pPr indent="-361950" lvl="0" marL="457200" rtl="0" algn="l">
              <a:spcBef>
                <a:spcPts val="0"/>
              </a:spcBef>
              <a:spcAft>
                <a:spcPts val="0"/>
              </a:spcAft>
              <a:buClr>
                <a:schemeClr val="dk1"/>
              </a:buClr>
              <a:buSzPts val="2100"/>
              <a:buFont typeface="Times New Roman"/>
              <a:buChar char="●"/>
            </a:pPr>
            <a:r>
              <a:rPr lang="en" sz="2100">
                <a:solidFill>
                  <a:schemeClr val="dk1"/>
                </a:solidFill>
                <a:latin typeface="Times New Roman"/>
                <a:ea typeface="Times New Roman"/>
                <a:cs typeface="Times New Roman"/>
                <a:sym typeface="Times New Roman"/>
              </a:rPr>
              <a:t>Fabric ledger history maintains the batch lifecycle</a:t>
            </a:r>
            <a:endParaRPr sz="21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2600"/>
          </a:p>
        </p:txBody>
      </p:sp>
      <p:pic>
        <p:nvPicPr>
          <p:cNvPr id="112" name="Google Shape;112;p21"/>
          <p:cNvPicPr preferRelativeResize="0"/>
          <p:nvPr/>
        </p:nvPicPr>
        <p:blipFill>
          <a:blip r:embed="rId3">
            <a:alphaModFix/>
          </a:blip>
          <a:stretch>
            <a:fillRect/>
          </a:stretch>
        </p:blipFill>
        <p:spPr>
          <a:xfrm>
            <a:off x="7782677" y="0"/>
            <a:ext cx="1361325" cy="445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11700" y="11127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220">
                <a:latin typeface="Times New Roman"/>
                <a:ea typeface="Times New Roman"/>
                <a:cs typeface="Times New Roman"/>
                <a:sym typeface="Times New Roman"/>
              </a:rPr>
              <a:t>Technical Soundness of the Project </a:t>
            </a:r>
            <a:endParaRPr b="1" sz="3220">
              <a:latin typeface="Times New Roman"/>
              <a:ea typeface="Times New Roman"/>
              <a:cs typeface="Times New Roman"/>
              <a:sym typeface="Times New Roman"/>
            </a:endParaRPr>
          </a:p>
        </p:txBody>
      </p:sp>
      <p:sp>
        <p:nvSpPr>
          <p:cNvPr id="118" name="Google Shape;118;p22"/>
          <p:cNvSpPr txBox="1"/>
          <p:nvPr>
            <p:ph idx="1" type="body"/>
          </p:nvPr>
        </p:nvSpPr>
        <p:spPr>
          <a:xfrm>
            <a:off x="311700" y="770050"/>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400">
                <a:solidFill>
                  <a:schemeClr val="dk1"/>
                </a:solidFill>
              </a:rPr>
              <a:t>T</a:t>
            </a:r>
            <a:r>
              <a:rPr lang="en" sz="1400">
                <a:solidFill>
                  <a:schemeClr val="dk1"/>
                </a:solidFill>
                <a:latin typeface="Times New Roman"/>
                <a:ea typeface="Times New Roman"/>
                <a:cs typeface="Times New Roman"/>
                <a:sym typeface="Times New Roman"/>
              </a:rPr>
              <a:t>he technical soundness of PharmaVerse AI can be demonstrated through its </a:t>
            </a:r>
            <a:r>
              <a:rPr b="1" lang="en" sz="1400">
                <a:solidFill>
                  <a:schemeClr val="dk1"/>
                </a:solidFill>
                <a:latin typeface="Times New Roman"/>
                <a:ea typeface="Times New Roman"/>
                <a:cs typeface="Times New Roman"/>
                <a:sym typeface="Times New Roman"/>
              </a:rPr>
              <a:t>blockchain architecture, security mechanisms, integration, and testing</a:t>
            </a:r>
            <a:r>
              <a:rPr lang="en" sz="1400">
                <a:solidFill>
                  <a:schemeClr val="dk1"/>
                </a:solidFill>
                <a:latin typeface="Times New Roman"/>
                <a:ea typeface="Times New Roman"/>
                <a:cs typeface="Times New Roman"/>
                <a:sym typeface="Times New Roman"/>
              </a:rPr>
              <a:t>.</a:t>
            </a:r>
            <a:endParaRPr sz="1400">
              <a:solidFill>
                <a:schemeClr val="dk1"/>
              </a:solidFill>
              <a:latin typeface="Times New Roman"/>
              <a:ea typeface="Times New Roman"/>
              <a:cs typeface="Times New Roman"/>
              <a:sym typeface="Times New Roman"/>
            </a:endParaRPr>
          </a:p>
          <a:p>
            <a:pPr indent="0" lvl="0" marL="0" rtl="0" algn="l">
              <a:spcBef>
                <a:spcPts val="1400"/>
              </a:spcBef>
              <a:spcAft>
                <a:spcPts val="0"/>
              </a:spcAft>
              <a:buClr>
                <a:schemeClr val="dk1"/>
              </a:buClr>
              <a:buSzPts val="1100"/>
              <a:buFont typeface="Arial"/>
              <a:buNone/>
            </a:pPr>
            <a:r>
              <a:rPr b="1" lang="en" sz="1400">
                <a:solidFill>
                  <a:schemeClr val="dk1"/>
                </a:solidFill>
                <a:latin typeface="Times New Roman"/>
                <a:ea typeface="Times New Roman"/>
                <a:cs typeface="Times New Roman"/>
                <a:sym typeface="Times New Roman"/>
              </a:rPr>
              <a:t>1. Appropriate Blockchain Technology : </a:t>
            </a:r>
            <a:r>
              <a:rPr lang="en" sz="1400">
                <a:solidFill>
                  <a:schemeClr val="dk1"/>
                </a:solidFill>
                <a:latin typeface="Times New Roman"/>
                <a:ea typeface="Times New Roman"/>
                <a:cs typeface="Times New Roman"/>
                <a:sym typeface="Times New Roman"/>
              </a:rPr>
              <a:t>The project uses </a:t>
            </a:r>
            <a:r>
              <a:rPr b="1" lang="en" sz="1400">
                <a:solidFill>
                  <a:schemeClr val="dk1"/>
                </a:solidFill>
                <a:latin typeface="Times New Roman"/>
                <a:ea typeface="Times New Roman"/>
                <a:cs typeface="Times New Roman"/>
                <a:sym typeface="Times New Roman"/>
              </a:rPr>
              <a:t>Hyperledger Fabric 2.5</a:t>
            </a:r>
            <a:r>
              <a:rPr lang="en" sz="1400">
                <a:solidFill>
                  <a:schemeClr val="dk1"/>
                </a:solidFill>
                <a:latin typeface="Times New Roman"/>
                <a:ea typeface="Times New Roman"/>
                <a:cs typeface="Times New Roman"/>
                <a:sym typeface="Times New Roman"/>
              </a:rPr>
              <a:t>, a permissioned blockchain suitable for a pharmaceutical supply chain where participating organizations have known identities. The implementation uses Fabric CA, Node.js chaincode, Fabric Gateway, Org1MSP and Org2MSP.</a:t>
            </a:r>
            <a:endParaRPr sz="1400">
              <a:solidFill>
                <a:schemeClr val="dk1"/>
              </a:solidFill>
              <a:latin typeface="Times New Roman"/>
              <a:ea typeface="Times New Roman"/>
              <a:cs typeface="Times New Roman"/>
              <a:sym typeface="Times New Roman"/>
            </a:endParaRPr>
          </a:p>
          <a:p>
            <a:pPr indent="0" lvl="0" marL="0" rtl="0" algn="l">
              <a:spcBef>
                <a:spcPts val="1400"/>
              </a:spcBef>
              <a:spcAft>
                <a:spcPts val="0"/>
              </a:spcAft>
              <a:buClr>
                <a:schemeClr val="dk1"/>
              </a:buClr>
              <a:buSzPts val="1100"/>
              <a:buFont typeface="Arial"/>
              <a:buNone/>
            </a:pPr>
            <a:r>
              <a:rPr b="1" lang="en" sz="1400">
                <a:solidFill>
                  <a:schemeClr val="dk1"/>
                </a:solidFill>
                <a:latin typeface="Times New Roman"/>
                <a:ea typeface="Times New Roman"/>
                <a:cs typeface="Times New Roman"/>
                <a:sym typeface="Times New Roman"/>
              </a:rPr>
              <a:t>2. Smart Contract-Based Validation : </a:t>
            </a:r>
            <a:r>
              <a:rPr lang="en" sz="1400">
                <a:solidFill>
                  <a:schemeClr val="dk1"/>
                </a:solidFill>
                <a:latin typeface="Times New Roman"/>
                <a:ea typeface="Times New Roman"/>
                <a:cs typeface="Times New Roman"/>
                <a:sym typeface="Times New Roman"/>
              </a:rPr>
              <a:t>Business rules are implemented through Node.js chaincode. For example, ownership transfer is permitted only when the requested source owner matches the batch's current owner. Unauthorized transfers are therefore rejected by the blockchain logic.</a:t>
            </a:r>
            <a:endParaRPr sz="1400">
              <a:solidFill>
                <a:schemeClr val="dk1"/>
              </a:solidFill>
              <a:latin typeface="Times New Roman"/>
              <a:ea typeface="Times New Roman"/>
              <a:cs typeface="Times New Roman"/>
              <a:sym typeface="Times New Roman"/>
            </a:endParaRPr>
          </a:p>
          <a:p>
            <a:pPr indent="0" lvl="0" marL="0" rtl="0" algn="l">
              <a:spcBef>
                <a:spcPts val="1400"/>
              </a:spcBef>
              <a:spcAft>
                <a:spcPts val="0"/>
              </a:spcAft>
              <a:buClr>
                <a:schemeClr val="dk1"/>
              </a:buClr>
              <a:buSzPts val="1100"/>
              <a:buFont typeface="Arial"/>
              <a:buNone/>
            </a:pPr>
            <a:r>
              <a:rPr b="1" lang="en" sz="1400">
                <a:solidFill>
                  <a:schemeClr val="dk1"/>
                </a:solidFill>
                <a:latin typeface="Times New Roman"/>
                <a:ea typeface="Times New Roman"/>
                <a:cs typeface="Times New Roman"/>
                <a:sym typeface="Times New Roman"/>
              </a:rPr>
              <a:t>3. Immutable Audit Trail : </a:t>
            </a:r>
            <a:r>
              <a:rPr lang="en" sz="1400">
                <a:solidFill>
                  <a:schemeClr val="dk1"/>
                </a:solidFill>
                <a:latin typeface="Times New Roman"/>
                <a:ea typeface="Times New Roman"/>
                <a:cs typeface="Times New Roman"/>
                <a:sym typeface="Times New Roman"/>
              </a:rPr>
              <a:t>Important events are recorded on the Fabric ledger, and historical states can be retrieved using Fabric's ledger-history functionality. This provides traceability of the drug from registration through shipment, ownership transfer and possible counterfeit detection.</a:t>
            </a:r>
            <a:endParaRPr sz="1400">
              <a:solidFill>
                <a:schemeClr val="dk1"/>
              </a:solidFill>
              <a:latin typeface="Times New Roman"/>
              <a:ea typeface="Times New Roman"/>
              <a:cs typeface="Times New Roman"/>
              <a:sym typeface="Times New Roman"/>
            </a:endParaRPr>
          </a:p>
          <a:p>
            <a:pPr indent="0" lvl="0" marL="0" rtl="0" algn="l">
              <a:spcBef>
                <a:spcPts val="1400"/>
              </a:spcBef>
              <a:spcAft>
                <a:spcPts val="400"/>
              </a:spcAft>
              <a:buClr>
                <a:schemeClr val="dk1"/>
              </a:buClr>
              <a:buSzPts val="1100"/>
              <a:buFont typeface="Arial"/>
              <a:buNone/>
            </a:pPr>
            <a:r>
              <a:rPr b="1" lang="en" sz="1400">
                <a:solidFill>
                  <a:schemeClr val="dk1"/>
                </a:solidFill>
                <a:latin typeface="Times New Roman"/>
                <a:ea typeface="Times New Roman"/>
                <a:cs typeface="Times New Roman"/>
                <a:sym typeface="Times New Roman"/>
              </a:rPr>
              <a:t>4. Security Testing : </a:t>
            </a:r>
            <a:r>
              <a:rPr lang="en" sz="1400">
                <a:solidFill>
                  <a:schemeClr val="dk1"/>
                </a:solidFill>
                <a:latin typeface="Times New Roman"/>
                <a:ea typeface="Times New Roman"/>
                <a:cs typeface="Times New Roman"/>
                <a:sym typeface="Times New Roman"/>
              </a:rPr>
              <a:t>The project includes a demonstrated unauthorized-transfer test. An unauthorized user attempted to transfer a batch, and Fabric rejected the transaction while preserving the existing owner and flagged state.</a:t>
            </a:r>
            <a:endParaRPr sz="1400"/>
          </a:p>
        </p:txBody>
      </p:sp>
      <p:pic>
        <p:nvPicPr>
          <p:cNvPr id="119" name="Google Shape;119;p22"/>
          <p:cNvPicPr preferRelativeResize="0"/>
          <p:nvPr/>
        </p:nvPicPr>
        <p:blipFill>
          <a:blip r:embed="rId3">
            <a:alphaModFix/>
          </a:blip>
          <a:stretch>
            <a:fillRect/>
          </a:stretch>
        </p:blipFill>
        <p:spPr>
          <a:xfrm>
            <a:off x="7782677" y="0"/>
            <a:ext cx="1361325" cy="445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idx="1" type="body"/>
          </p:nvPr>
        </p:nvSpPr>
        <p:spPr>
          <a:xfrm>
            <a:off x="295525" y="373675"/>
            <a:ext cx="8536800" cy="41952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 sz="1500">
                <a:solidFill>
                  <a:schemeClr val="dk1"/>
                </a:solidFill>
                <a:latin typeface="Times New Roman"/>
                <a:ea typeface="Times New Roman"/>
                <a:cs typeface="Times New Roman"/>
                <a:sym typeface="Times New Roman"/>
              </a:rPr>
              <a:t>5. Counterfeit Detection Testing : </a:t>
            </a:r>
            <a:r>
              <a:rPr lang="en" sz="1500">
                <a:solidFill>
                  <a:schemeClr val="dk1"/>
                </a:solidFill>
                <a:latin typeface="Times New Roman"/>
                <a:ea typeface="Times New Roman"/>
                <a:cs typeface="Times New Roman"/>
                <a:sym typeface="Times New Roman"/>
              </a:rPr>
              <a:t>The system was tested using both correct and incorrect RFID information:</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b="1" lang="en" sz="1500">
                <a:solidFill>
                  <a:schemeClr val="dk1"/>
                </a:solidFill>
                <a:latin typeface="Times New Roman"/>
                <a:ea typeface="Times New Roman"/>
                <a:cs typeface="Times New Roman"/>
                <a:sym typeface="Times New Roman"/>
              </a:rPr>
              <a:t>Correct QR + RFID → AUTHENTIC</a:t>
            </a:r>
            <a:endParaRPr b="1"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b="1" lang="en" sz="1500">
                <a:solidFill>
                  <a:schemeClr val="dk1"/>
                </a:solidFill>
                <a:latin typeface="Times New Roman"/>
                <a:ea typeface="Times New Roman"/>
                <a:cs typeface="Times New Roman"/>
                <a:sym typeface="Times New Roman"/>
              </a:rPr>
              <a:t>Correct QR + incorrect RFID → SUSPICIOUS → HIGH-RISK FLAG</a:t>
            </a:r>
            <a:endParaRPr sz="1500">
              <a:solidFill>
                <a:schemeClr val="dk1"/>
              </a:solidFill>
              <a:latin typeface="Times New Roman"/>
              <a:ea typeface="Times New Roman"/>
              <a:cs typeface="Times New Roman"/>
              <a:sym typeface="Times New Roman"/>
            </a:endParaRPr>
          </a:p>
          <a:p>
            <a:pPr indent="0" lvl="0" marL="0" rtl="0" algn="l">
              <a:spcBef>
                <a:spcPts val="1400"/>
              </a:spcBef>
              <a:spcAft>
                <a:spcPts val="0"/>
              </a:spcAft>
              <a:buClr>
                <a:schemeClr val="dk1"/>
              </a:buClr>
              <a:buSzPts val="1100"/>
              <a:buFont typeface="Arial"/>
              <a:buNone/>
            </a:pPr>
            <a:r>
              <a:rPr b="1" lang="en" sz="1500">
                <a:solidFill>
                  <a:schemeClr val="dk1"/>
                </a:solidFill>
                <a:latin typeface="Times New Roman"/>
                <a:ea typeface="Times New Roman"/>
                <a:cs typeface="Times New Roman"/>
                <a:sym typeface="Times New Roman"/>
              </a:rPr>
              <a:t>6. IoT Integration : </a:t>
            </a:r>
            <a:r>
              <a:rPr lang="en" sz="1500">
                <a:solidFill>
                  <a:schemeClr val="dk1"/>
                </a:solidFill>
                <a:latin typeface="Times New Roman"/>
                <a:ea typeface="Times New Roman"/>
                <a:cs typeface="Times New Roman"/>
                <a:sym typeface="Times New Roman"/>
              </a:rPr>
              <a:t>The blockchain module can store shipment-monitoring information such as temperature, humidity, latitude, longitude, movement and RFID information. The demonstrated IoT event was successfully stored and retrieved from Fabric.</a:t>
            </a:r>
            <a:endParaRPr sz="1500">
              <a:solidFill>
                <a:schemeClr val="dk1"/>
              </a:solidFill>
              <a:latin typeface="Times New Roman"/>
              <a:ea typeface="Times New Roman"/>
              <a:cs typeface="Times New Roman"/>
              <a:sym typeface="Times New Roman"/>
            </a:endParaRPr>
          </a:p>
          <a:p>
            <a:pPr indent="0" lvl="0" marL="0" rtl="0" algn="l">
              <a:spcBef>
                <a:spcPts val="1400"/>
              </a:spcBef>
              <a:spcAft>
                <a:spcPts val="0"/>
              </a:spcAft>
              <a:buClr>
                <a:schemeClr val="dk1"/>
              </a:buClr>
              <a:buSzPts val="1100"/>
              <a:buFont typeface="Arial"/>
              <a:buNone/>
            </a:pPr>
            <a:r>
              <a:rPr b="1" lang="en" sz="1500">
                <a:solidFill>
                  <a:schemeClr val="dk1"/>
                </a:solidFill>
                <a:latin typeface="Times New Roman"/>
                <a:ea typeface="Times New Roman"/>
                <a:cs typeface="Times New Roman"/>
                <a:sym typeface="Times New Roman"/>
              </a:rPr>
              <a:t>7. Deterministic Blockchain Implementation : </a:t>
            </a:r>
            <a:r>
              <a:rPr lang="en" sz="1500">
                <a:solidFill>
                  <a:schemeClr val="dk1"/>
                </a:solidFill>
                <a:latin typeface="Times New Roman"/>
                <a:ea typeface="Times New Roman"/>
                <a:cs typeface="Times New Roman"/>
                <a:sym typeface="Times New Roman"/>
              </a:rPr>
              <a:t>The chaincode uses the </a:t>
            </a:r>
            <a:r>
              <a:rPr b="1" lang="en" sz="1500">
                <a:solidFill>
                  <a:schemeClr val="dk1"/>
                </a:solidFill>
                <a:latin typeface="Times New Roman"/>
                <a:ea typeface="Times New Roman"/>
                <a:cs typeface="Times New Roman"/>
                <a:sym typeface="Times New Roman"/>
              </a:rPr>
              <a:t>Fabric transaction timestamp</a:t>
            </a:r>
            <a:r>
              <a:rPr lang="en" sz="1500">
                <a:solidFill>
                  <a:schemeClr val="dk1"/>
                </a:solidFill>
                <a:latin typeface="Times New Roman"/>
                <a:ea typeface="Times New Roman"/>
                <a:cs typeface="Times New Roman"/>
                <a:sym typeface="Times New Roman"/>
              </a:rPr>
              <a:t> rather than generating timestamps with </a:t>
            </a:r>
            <a:r>
              <a:rPr lang="en" sz="1500">
                <a:solidFill>
                  <a:srgbClr val="188038"/>
                </a:solidFill>
                <a:latin typeface="Times New Roman"/>
                <a:ea typeface="Times New Roman"/>
                <a:cs typeface="Times New Roman"/>
                <a:sym typeface="Times New Roman"/>
              </a:rPr>
              <a:t>new Date()</a:t>
            </a:r>
            <a:r>
              <a:rPr lang="en" sz="1500">
                <a:solidFill>
                  <a:schemeClr val="dk1"/>
                </a:solidFill>
                <a:latin typeface="Times New Roman"/>
                <a:ea typeface="Times New Roman"/>
                <a:cs typeface="Times New Roman"/>
                <a:sym typeface="Times New Roman"/>
              </a:rPr>
              <a:t>. This is technically important because blockchain chaincode must execute deterministically across peers.</a:t>
            </a:r>
            <a:endParaRPr sz="1500">
              <a:solidFill>
                <a:schemeClr val="dk1"/>
              </a:solidFill>
              <a:latin typeface="Times New Roman"/>
              <a:ea typeface="Times New Roman"/>
              <a:cs typeface="Times New Roman"/>
              <a:sym typeface="Times New Roman"/>
            </a:endParaRPr>
          </a:p>
          <a:p>
            <a:pPr indent="0" lvl="0" marL="0" rtl="0" algn="l">
              <a:spcBef>
                <a:spcPts val="1400"/>
              </a:spcBef>
              <a:spcAft>
                <a:spcPts val="0"/>
              </a:spcAft>
              <a:buClr>
                <a:schemeClr val="dk1"/>
              </a:buClr>
              <a:buSzPts val="1100"/>
              <a:buFont typeface="Arial"/>
              <a:buNone/>
            </a:pPr>
            <a:r>
              <a:rPr b="1" lang="en" sz="1500">
                <a:solidFill>
                  <a:schemeClr val="dk1"/>
                </a:solidFill>
                <a:latin typeface="Times New Roman"/>
                <a:ea typeface="Times New Roman"/>
                <a:cs typeface="Times New Roman"/>
                <a:sym typeface="Times New Roman"/>
              </a:rPr>
              <a:t>8. Backend–Blockchain Integration : </a:t>
            </a:r>
            <a:r>
              <a:rPr lang="en" sz="1500">
                <a:solidFill>
                  <a:schemeClr val="dk1"/>
                </a:solidFill>
                <a:latin typeface="Times New Roman"/>
                <a:ea typeface="Times New Roman"/>
                <a:cs typeface="Times New Roman"/>
                <a:sym typeface="Times New Roman"/>
              </a:rPr>
              <a:t>The backend communicates with Fabric through the </a:t>
            </a:r>
            <a:r>
              <a:rPr b="1" lang="en" sz="1500">
                <a:solidFill>
                  <a:schemeClr val="dk1"/>
                </a:solidFill>
                <a:latin typeface="Times New Roman"/>
                <a:ea typeface="Times New Roman"/>
                <a:cs typeface="Times New Roman"/>
                <a:sym typeface="Times New Roman"/>
              </a:rPr>
              <a:t>Fabric Gateway</a:t>
            </a:r>
            <a:r>
              <a:rPr lang="en" sz="1500">
                <a:solidFill>
                  <a:schemeClr val="dk1"/>
                </a:solidFill>
                <a:latin typeface="Times New Roman"/>
                <a:ea typeface="Times New Roman"/>
                <a:cs typeface="Times New Roman"/>
                <a:sym typeface="Times New Roman"/>
              </a:rPr>
              <a:t>, specifically through the reusable </a:t>
            </a:r>
            <a:r>
              <a:rPr lang="en" sz="1500">
                <a:solidFill>
                  <a:srgbClr val="188038"/>
                </a:solidFill>
                <a:latin typeface="Times New Roman"/>
                <a:ea typeface="Times New Roman"/>
                <a:cs typeface="Times New Roman"/>
                <a:sym typeface="Times New Roman"/>
              </a:rPr>
              <a:t>fabricService.js</a:t>
            </a:r>
            <a:r>
              <a:rPr lang="en" sz="1500">
                <a:solidFill>
                  <a:schemeClr val="dk1"/>
                </a:solidFill>
                <a:latin typeface="Times New Roman"/>
                <a:ea typeface="Times New Roman"/>
                <a:cs typeface="Times New Roman"/>
                <a:sym typeface="Times New Roman"/>
              </a:rPr>
              <a:t> layer. This separates the application/business logic from direct blockchain communication.</a:t>
            </a:r>
            <a:endParaRPr sz="1500"/>
          </a:p>
          <a:p>
            <a:pPr indent="0" lvl="0" marL="0" rtl="0" algn="l">
              <a:spcBef>
                <a:spcPts val="400"/>
              </a:spcBef>
              <a:spcAft>
                <a:spcPts val="1200"/>
              </a:spcAft>
              <a:buNone/>
            </a:pPr>
            <a:r>
              <a:t/>
            </a:r>
            <a:endParaRPr sz="2000"/>
          </a:p>
        </p:txBody>
      </p:sp>
      <p:pic>
        <p:nvPicPr>
          <p:cNvPr id="125" name="Google Shape;125;p23"/>
          <p:cNvPicPr preferRelativeResize="0"/>
          <p:nvPr/>
        </p:nvPicPr>
        <p:blipFill>
          <a:blip r:embed="rId3">
            <a:alphaModFix/>
          </a:blip>
          <a:stretch>
            <a:fillRect/>
          </a:stretch>
        </p:blipFill>
        <p:spPr>
          <a:xfrm>
            <a:off x="7782677" y="0"/>
            <a:ext cx="1361325" cy="4450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